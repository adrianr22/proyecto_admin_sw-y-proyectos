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1  [ ~30 seg ]
"Buenos días/tardes. El proyecto que les presentamos hoy se llama CroquetaPet. Es una aplicación web que desarrollamos para resolver un problema operativo real de las PYMES que venden alimento para mascotas en Aguascalientes. El equipo somos Ángel Ortiz, Miguel Rovelo y yo, Salvador Aguilera, del octavo semestre de Ingeniería en Computación Inteligente."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2  [ ~35 seg ]
"El 78 % de estas pequeñas empresas opera exclusivamente por WhatsApp. Cuando reciben más de 30 pedidos al día, tardan 45 minutos en responder cada uno — y el cliente ya se fue con otro proveedor. El inventario nunca está actualizado: se confirman pedidos de productos agotados. Y las rutas de entrega son un caos porque nadie puede agrupar despachos cuando los horarios se acuerdan en texto libre. Exactamente eso es lo que CroquetaPet resuelve."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3  [ ~35 seg ]
"CroquetaPet tiene tres módulos integrados. El portal del cliente muestra un catálogo con búsqueda en tiempo real, filtros por especie y edad, y un semáforo visual: verde si hay stock, ámbar si queda poco, y rojo con botón desactivado si está agotado. El panel del administrador tiene un dashboard con KPIs, edición de inventario con botones de + y −, y una agenda de pedidos con estados de entrega actualizables. Y lo que conecta todo es shared.js: un motor de sincronización reactiva que actualiza ambos portales en menos de medio segundo, sin ningún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4  [ ~30 seg ]
"El mercado de alimento para mascotas en México crece al 12 % anual, pero las tiendas locales no tienen herramientas digitales. Amazon tiene catálogo digital en tiempo real pero no entrega el mismo día. Los distribuidores locales entregan rápido pero no tienen control de inventario. CroquetaPet ocupa ese punto intermedio estratégico: entrega local del mismo día, catálogo digital con semáforo de stock, y costo operativo mensual de cero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5  [ ~30 seg ]
"La factibilidad es completa en los tres frentes. Técnicamente, el sistema corre con JavaScript nativo en cualquier navegador moderno: cero instalaciones, cero dependencias externas. Económicamente, la única inversión son los 30 mil pesos del desarrollo. Después, cero gastos mensuales. El ahorro en tiempo administrativo recupera esa inversión en 20 meses. Operacionalmente, el sistema fue diseñado para que cualquier persona lo aprenda en menos de dos horas — sin manuales técnicos complejos."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6  [ ~30 seg ]
"Para dimensionar el proyecto aplicamos la metodología formal IFPUG de Puntos de Función. Clasificamos todos los componentes del sistema: entradas externas, salidas, consultas y archivos lógicos internos. La suma da 39 Puntos de Función No Ajustados. Al evaluar las 14 características técnicas del entorno obtenemos un Factor de Ajuste de 40, del cual derivamos el esfuerzo en 240 horas-persona, 2.5 meses de desarrollo y un costo total de 30 mil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7  [ ~30 seg ]
"Usamos Scrum con Sprints de 2 semanas. En los primeros dos sprints construimos la arquitectura de datos con shared.js y los estilos base. El sprint 3 fue el catálogo del cliente con filtros y semáforo. El 4, el carrito con validación de stock y checkout logístico. El 5, el panel del administrador con dashboard y agenda. Y el sprint 6 integró todo con la sincronización reactiva en tiempo real y cerró con pruebas de caja negra. La EDT formal tiene 6 fases y 18 paquetes 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8  [ ~30 seg ]
"Al aplicar el EVM al cierre del Sprint 4, el proyecto reportó un CPI de 1.16: por cada peso invertido generamos 1.16 de valor real — estábamos bajo presupuesto. El SPI de 1.07 confirma que íbamos un 7 % adelantados en el cronograma. Eso se traduce en un ahorro de 2,300 pesos sobre el plan original y en que completamos el 70 % del trabajo con solo el 63 % del tiempo previsto. El control del proyecto fue exitoso en ambas dimensiones."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9  [ ~30 seg ]
"Identificamos y documentamos 5 riesgos con ficha técnica completa usando la metodología RSAR de Pressman: Reducción, Supervisión y Administración del Riesgo. El de mayor exposición fue el desfase académico con ER de 5.6, que mitigamos desde el primer Sprint definiendo el MVP. En calidad, aplicamos la norma ISO/IEC 25010 y ejecutamos 12 casos de prueba cubriendo el 100 % de los requerimientos funcionales. El sistema pasó todas las pruebas: carga en 85 ms, sincronización en 120 ms, y cero defectos críticos al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GUIÓN — Diapositiva 10  [ ~25 seg ]
"Para cerrar: CroquetaPet demostró que con una arquitectura bien planeada, tecnología nativa y metodología ágil se puede resolver un problema real de una PYME con una inversión de 30 mil pesos recuperable en 20 meses. Entregamos el proyecto adelantado, bajo presupuesto, con todos los requerimientos cubiertos y cero defectos críticos. El sistema está listo para operar. Muchas gracias por su atención — con gusto respondemos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3840480" cy="91440"/>
          </a:xfrm>
          <a:prstGeom prst="rect">
            <a:avLst/>
          </a:prstGeom>
          <a:solidFill>
            <a:srgbClr val="0D9488"/>
          </a:solidFill>
          <a:ln/>
        </p:spPr>
      </p:sp>
      <p:sp>
        <p:nvSpPr>
          <p:cNvPr id="3" name="Shape 1"/>
          <p:cNvSpPr/>
          <p:nvPr/>
        </p:nvSpPr>
        <p:spPr>
          <a:xfrm>
            <a:off x="7589520" y="274320"/>
            <a:ext cx="475488" cy="475488"/>
          </a:xfrm>
          <a:prstGeom prst="ellipse">
            <a:avLst/>
          </a:prstGeom>
          <a:solidFill>
            <a:srgbClr val="0D9488">
              <a:alpha val="28000"/>
            </a:srgbClr>
          </a:solidFill>
          <a:ln/>
        </p:spPr>
      </p:sp>
      <p:sp>
        <p:nvSpPr>
          <p:cNvPr id="4" name="Shape 2"/>
          <p:cNvSpPr/>
          <p:nvPr/>
        </p:nvSpPr>
        <p:spPr>
          <a:xfrm>
            <a:off x="8321040" y="594360"/>
            <a:ext cx="329184" cy="329184"/>
          </a:xfrm>
          <a:prstGeom prst="ellipse">
            <a:avLst/>
          </a:prstGeom>
          <a:solidFill>
            <a:srgbClr val="0D9488">
              <a:alpha val="28000"/>
            </a:srgbClr>
          </a:solidFill>
          <a:ln/>
        </p:spPr>
      </p:sp>
      <p:sp>
        <p:nvSpPr>
          <p:cNvPr id="5" name="Shape 3"/>
          <p:cNvSpPr/>
          <p:nvPr/>
        </p:nvSpPr>
        <p:spPr>
          <a:xfrm>
            <a:off x="7955280" y="1005840"/>
            <a:ext cx="237744" cy="237744"/>
          </a:xfrm>
          <a:prstGeom prst="ellipse">
            <a:avLst/>
          </a:prstGeom>
          <a:solidFill>
            <a:srgbClr val="0D9488">
              <a:alpha val="28000"/>
            </a:srgbClr>
          </a:solidFill>
          <a:ln/>
        </p:spPr>
      </p:sp>
      <p:sp>
        <p:nvSpPr>
          <p:cNvPr id="6" name="Shape 4"/>
          <p:cNvSpPr/>
          <p:nvPr/>
        </p:nvSpPr>
        <p:spPr>
          <a:xfrm>
            <a:off x="8549640" y="1234440"/>
            <a:ext cx="182880" cy="182880"/>
          </a:xfrm>
          <a:prstGeom prst="ellipse">
            <a:avLst/>
          </a:prstGeom>
          <a:solidFill>
            <a:srgbClr val="0D9488">
              <a:alpha val="28000"/>
            </a:srgbClr>
          </a:solidFill>
          <a:ln/>
        </p:spPr>
      </p:sp>
      <p:sp>
        <p:nvSpPr>
          <p:cNvPr id="7" name="Text 5"/>
          <p:cNvSpPr/>
          <p:nvPr/>
        </p:nvSpPr>
        <p:spPr>
          <a:xfrm>
            <a:off x="502920" y="731520"/>
            <a:ext cx="7223760" cy="118872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CroquetaPet</a:t>
            </a:r>
            <a:endParaRPr lang="en-US" sz="5200" dirty="0"/>
          </a:p>
        </p:txBody>
      </p:sp>
      <p:sp>
        <p:nvSpPr>
          <p:cNvPr id="8" name="Shape 6"/>
          <p:cNvSpPr/>
          <p:nvPr/>
        </p:nvSpPr>
        <p:spPr>
          <a:xfrm>
            <a:off x="502920" y="1920240"/>
            <a:ext cx="3383280" cy="54864"/>
          </a:xfrm>
          <a:prstGeom prst="rect">
            <a:avLst/>
          </a:prstGeom>
          <a:solidFill>
            <a:srgbClr val="0D9488"/>
          </a:solidFill>
          <a:ln/>
        </p:spPr>
      </p:sp>
      <p:sp>
        <p:nvSpPr>
          <p:cNvPr id="9" name="Text 7"/>
          <p:cNvSpPr/>
          <p:nvPr/>
        </p:nvSpPr>
        <p:spPr>
          <a:xfrm>
            <a:off x="502920" y="2029968"/>
            <a:ext cx="7772400" cy="438912"/>
          </a:xfrm>
          <a:prstGeom prst="rect">
            <a:avLst/>
          </a:prstGeom>
          <a:noFill/>
          <a:ln/>
        </p:spPr>
        <p:txBody>
          <a:bodyPr wrap="square" lIns="0" tIns="0" rIns="0" bIns="0" rtlCol="0" anchor="ctr"/>
          <a:lstStyle/>
          <a:p>
            <a:pPr indent="0" marL="0">
              <a:buNone/>
            </a:pPr>
            <a:r>
              <a:rPr lang="en-US" sz="1700" dirty="0">
                <a:solidFill>
                  <a:srgbClr val="5EEAD4"/>
                </a:solidFill>
                <a:latin typeface="Calibri" pitchFamily="34" charset="0"/>
                <a:ea typeface="Calibri" pitchFamily="34" charset="-122"/>
                <a:cs typeface="Calibri" pitchFamily="34" charset="-120"/>
              </a:rPr>
              <a:t>Sistema web de inventario, pedidos y logística para PYMES</a:t>
            </a:r>
            <a:endParaRPr lang="en-US" sz="1700" dirty="0"/>
          </a:p>
        </p:txBody>
      </p:sp>
      <p:sp>
        <p:nvSpPr>
          <p:cNvPr id="10" name="Text 8"/>
          <p:cNvSpPr/>
          <p:nvPr/>
        </p:nvSpPr>
        <p:spPr>
          <a:xfrm>
            <a:off x="502920" y="2487168"/>
            <a:ext cx="7772400" cy="365760"/>
          </a:xfrm>
          <a:prstGeom prst="rect">
            <a:avLst/>
          </a:prstGeom>
          <a:noFill/>
          <a:ln/>
        </p:spPr>
        <p:txBody>
          <a:bodyPr wrap="square" lIns="0" tIns="0" rIns="0" bIns="0"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Minoristas de Alimento para Mascotas  ·  Aguascalientes, Ags.</a:t>
            </a:r>
            <a:endParaRPr lang="en-US" sz="1400" dirty="0"/>
          </a:p>
        </p:txBody>
      </p:sp>
      <p:sp>
        <p:nvSpPr>
          <p:cNvPr id="11" name="Text 9"/>
          <p:cNvSpPr/>
          <p:nvPr/>
        </p:nvSpPr>
        <p:spPr>
          <a:xfrm>
            <a:off x="502920" y="3108960"/>
            <a:ext cx="8229600" cy="77724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Ángel David Ortiz Quiroz   ·   Miguel Adrián Rovelo González   ·   Salvador Alejandro Aguilera Macías</a:t>
            </a:r>
            <a:endParaRPr lang="en-US" sz="1200" dirty="0"/>
          </a:p>
          <a:p>
            <a:pPr indent="0" marL="0">
              <a:buNone/>
            </a:pPr>
            <a:r>
              <a:rPr lang="en-US" sz="1200" dirty="0">
                <a:solidFill>
                  <a:srgbClr val="94A3B8"/>
                </a:solidFill>
                <a:latin typeface="Calibri" pitchFamily="34" charset="0"/>
                <a:ea typeface="Calibri" pitchFamily="34" charset="-122"/>
                <a:cs typeface="Calibri" pitchFamily="34" charset="-120"/>
              </a:rPr>
              <a:t>Administración de Software y Proyectos   ·   8° Semestre   ·   Dra. Margarita Mondragón Arellano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01 — El Problema Real</a:t>
            </a:r>
            <a:endParaRPr lang="en-US" sz="2000" dirty="0"/>
          </a:p>
        </p:txBody>
      </p:sp>
      <p:sp>
        <p:nvSpPr>
          <p:cNvPr id="5" name="Shape 3"/>
          <p:cNvSpPr/>
          <p:nvPr/>
        </p:nvSpPr>
        <p:spPr>
          <a:xfrm>
            <a:off x="256032" y="822960"/>
            <a:ext cx="2633472" cy="3291840"/>
          </a:xfrm>
          <a:prstGeom prst="roundRect">
            <a:avLst>
              <a:gd name="adj" fmla="val 3472"/>
            </a:avLst>
          </a:prstGeom>
          <a:solidFill>
            <a:srgbClr val="F8FAFC"/>
          </a:solidFill>
          <a:ln/>
          <a:effectLst>
            <a:outerShdw sx="100000" sy="100000" kx="0" ky="0" algn="bl" rotWithShape="0" blurRad="76200" dist="25400" dir="2700000">
              <a:srgbClr val="000000">
                <a:alpha val="9000"/>
              </a:srgbClr>
            </a:outerShdw>
          </a:effectLst>
        </p:spPr>
      </p:sp>
      <p:sp>
        <p:nvSpPr>
          <p:cNvPr id="6" name="Text 4"/>
          <p:cNvSpPr/>
          <p:nvPr/>
        </p:nvSpPr>
        <p:spPr>
          <a:xfrm>
            <a:off x="347472" y="960120"/>
            <a:ext cx="2450592"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7" name="Text 5"/>
          <p:cNvSpPr/>
          <p:nvPr/>
        </p:nvSpPr>
        <p:spPr>
          <a:xfrm>
            <a:off x="365760" y="1691640"/>
            <a:ext cx="2414016" cy="5943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Saturación en WhatsApp</a:t>
            </a:r>
            <a:endParaRPr lang="en-US" sz="1300" dirty="0"/>
          </a:p>
        </p:txBody>
      </p:sp>
      <p:sp>
        <p:nvSpPr>
          <p:cNvPr id="8" name="Text 6"/>
          <p:cNvSpPr/>
          <p:nvPr/>
        </p:nvSpPr>
        <p:spPr>
          <a:xfrm>
            <a:off x="365760" y="2331720"/>
            <a:ext cx="2414016" cy="1691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Pedidos enterrados en chats. Con más de 30 pedidos diarios, el tiempo de respuesta sube a 45 minutos — y la venta se pierde.</a:t>
            </a:r>
            <a:endParaRPr lang="en-US" sz="1150" dirty="0"/>
          </a:p>
        </p:txBody>
      </p:sp>
      <p:sp>
        <p:nvSpPr>
          <p:cNvPr id="9" name="Shape 7"/>
          <p:cNvSpPr/>
          <p:nvPr/>
        </p:nvSpPr>
        <p:spPr>
          <a:xfrm>
            <a:off x="3145536" y="822960"/>
            <a:ext cx="2633472" cy="3291840"/>
          </a:xfrm>
          <a:prstGeom prst="roundRect">
            <a:avLst>
              <a:gd name="adj" fmla="val 3472"/>
            </a:avLst>
          </a:prstGeom>
          <a:solidFill>
            <a:srgbClr val="F8FAFC"/>
          </a:solidFill>
          <a:ln/>
          <a:effectLst>
            <a:outerShdw sx="100000" sy="100000" kx="0" ky="0" algn="bl" rotWithShape="0" blurRad="76200" dist="25400" dir="2700000">
              <a:srgbClr val="000000">
                <a:alpha val="9000"/>
              </a:srgbClr>
            </a:outerShdw>
          </a:effectLst>
        </p:spPr>
      </p:sp>
      <p:sp>
        <p:nvSpPr>
          <p:cNvPr id="10" name="Text 8"/>
          <p:cNvSpPr/>
          <p:nvPr/>
        </p:nvSpPr>
        <p:spPr>
          <a:xfrm>
            <a:off x="3236976" y="960120"/>
            <a:ext cx="2450592"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1" name="Text 9"/>
          <p:cNvSpPr/>
          <p:nvPr/>
        </p:nvSpPr>
        <p:spPr>
          <a:xfrm>
            <a:off x="3255264" y="1691640"/>
            <a:ext cx="2414016" cy="5943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Inventario Desincronizado</a:t>
            </a:r>
            <a:endParaRPr lang="en-US" sz="1300" dirty="0"/>
          </a:p>
        </p:txBody>
      </p:sp>
      <p:sp>
        <p:nvSpPr>
          <p:cNvPr id="12" name="Text 10"/>
          <p:cNvSpPr/>
          <p:nvPr/>
        </p:nvSpPr>
        <p:spPr>
          <a:xfrm>
            <a:off x="3255264" y="2331720"/>
            <a:ext cx="2414016" cy="1691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Sin canal unificado para actualizar el stock, se confirman pedidos de marcas (Royal Canin, ProPlan) que ya están agotadas.</a:t>
            </a:r>
            <a:endParaRPr lang="en-US" sz="1150" dirty="0"/>
          </a:p>
        </p:txBody>
      </p:sp>
      <p:sp>
        <p:nvSpPr>
          <p:cNvPr id="13" name="Shape 11"/>
          <p:cNvSpPr/>
          <p:nvPr/>
        </p:nvSpPr>
        <p:spPr>
          <a:xfrm>
            <a:off x="6035040" y="822960"/>
            <a:ext cx="2633472" cy="3291840"/>
          </a:xfrm>
          <a:prstGeom prst="roundRect">
            <a:avLst>
              <a:gd name="adj" fmla="val 3472"/>
            </a:avLst>
          </a:prstGeom>
          <a:solidFill>
            <a:srgbClr val="F8FAFC"/>
          </a:solidFill>
          <a:ln/>
          <a:effectLst>
            <a:outerShdw sx="100000" sy="100000" kx="0" ky="0" algn="bl" rotWithShape="0" blurRad="76200" dist="25400" dir="2700000">
              <a:srgbClr val="000000">
                <a:alpha val="9000"/>
              </a:srgbClr>
            </a:outerShdw>
          </a:effectLst>
        </p:spPr>
      </p:sp>
      <p:sp>
        <p:nvSpPr>
          <p:cNvPr id="14" name="Text 12"/>
          <p:cNvSpPr/>
          <p:nvPr/>
        </p:nvSpPr>
        <p:spPr>
          <a:xfrm>
            <a:off x="6126480" y="960120"/>
            <a:ext cx="2450592" cy="68580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5" name="Text 13"/>
          <p:cNvSpPr/>
          <p:nvPr/>
        </p:nvSpPr>
        <p:spPr>
          <a:xfrm>
            <a:off x="6144768" y="1691640"/>
            <a:ext cx="2414016" cy="59436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Caos en la Distribución</a:t>
            </a:r>
            <a:endParaRPr lang="en-US" sz="1300" dirty="0"/>
          </a:p>
        </p:txBody>
      </p:sp>
      <p:sp>
        <p:nvSpPr>
          <p:cNvPr id="16" name="Text 14"/>
          <p:cNvSpPr/>
          <p:nvPr/>
        </p:nvSpPr>
        <p:spPr>
          <a:xfrm>
            <a:off x="6144768" y="2331720"/>
            <a:ext cx="2414016" cy="1691640"/>
          </a:xfrm>
          <a:prstGeom prst="rect">
            <a:avLst/>
          </a:prstGeom>
          <a:noFill/>
          <a:ln/>
        </p:spPr>
        <p:txBody>
          <a:bodyPr wrap="square" lIns="0" tIns="0" rIns="0" bIns="0" rtlCol="0" anchor="ctr"/>
          <a:lstStyle/>
          <a:p>
            <a:pPr algn="ctr" indent="0" marL="0">
              <a:buNone/>
            </a:pPr>
            <a:r>
              <a:rPr lang="en-US" sz="1150" dirty="0">
                <a:solidFill>
                  <a:srgbClr val="475569"/>
                </a:solidFill>
                <a:latin typeface="Calibri" pitchFamily="34" charset="0"/>
                <a:ea typeface="Calibri" pitchFamily="34" charset="-122"/>
                <a:cs typeface="Calibri" pitchFamily="34" charset="-120"/>
              </a:rPr>
              <a:t>Los horarios pactados en texto libre impiden agrupar entregas por zona. Costos de traslado elevados y rutas saturadas.</a:t>
            </a:r>
            <a:endParaRPr lang="en-US" sz="1150" dirty="0"/>
          </a:p>
        </p:txBody>
      </p:sp>
      <p:sp>
        <p:nvSpPr>
          <p:cNvPr id="17" name="Shape 15"/>
          <p:cNvSpPr/>
          <p:nvPr/>
        </p:nvSpPr>
        <p:spPr>
          <a:xfrm>
            <a:off x="0" y="4297680"/>
            <a:ext cx="9144000" cy="845820"/>
          </a:xfrm>
          <a:prstGeom prst="rect">
            <a:avLst/>
          </a:prstGeom>
          <a:solidFill>
            <a:srgbClr val="1B2A4A"/>
          </a:solidFill>
          <a:ln/>
        </p:spPr>
      </p:sp>
      <p:sp>
        <p:nvSpPr>
          <p:cNvPr id="18" name="Text 16"/>
          <p:cNvSpPr/>
          <p:nvPr/>
        </p:nvSpPr>
        <p:spPr>
          <a:xfrm>
            <a:off x="274320" y="4334256"/>
            <a:ext cx="8595360" cy="777240"/>
          </a:xfrm>
          <a:prstGeom prst="rect">
            <a:avLst/>
          </a:prstGeom>
          <a:noFill/>
          <a:ln/>
        </p:spPr>
        <p:txBody>
          <a:bodyPr wrap="square" lIns="0" tIns="0" rIns="0" bIns="0" rtlCol="0" anchor="ctr"/>
          <a:lstStyle/>
          <a:p>
            <a:pPr algn="ctr" indent="0" marL="0">
              <a:buNone/>
            </a:pPr>
            <a:r>
              <a:rPr lang="en-US" sz="1200" dirty="0">
                <a:solidFill>
                  <a:srgbClr val="5EEAD4"/>
                </a:solidFill>
                <a:latin typeface="Calibri" pitchFamily="34" charset="0"/>
                <a:ea typeface="Calibri" pitchFamily="34" charset="-122"/>
                <a:cs typeface="Calibri" pitchFamily="34" charset="-120"/>
              </a:rPr>
              <a:t>78 % de PYMES usa WhatsApp como único canal   ·   45 min promedio por pedido   ·   Cancelaciones por stock desconocido</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02 — CroquetaPet: Tres Módulos Integrados</a:t>
            </a:r>
            <a:endParaRPr lang="en-US" sz="2000" dirty="0"/>
          </a:p>
        </p:txBody>
      </p:sp>
      <p:sp>
        <p:nvSpPr>
          <p:cNvPr id="5" name="Shape 3"/>
          <p:cNvSpPr/>
          <p:nvPr/>
        </p:nvSpPr>
        <p:spPr>
          <a:xfrm>
            <a:off x="256032" y="822960"/>
            <a:ext cx="2651760" cy="749808"/>
          </a:xfrm>
          <a:prstGeom prst="roundRect">
            <a:avLst>
              <a:gd name="adj" fmla="val 9756"/>
            </a:avLst>
          </a:prstGeom>
          <a:solidFill>
            <a:srgbClr val="0D9488"/>
          </a:solidFill>
          <a:ln/>
        </p:spPr>
      </p:sp>
      <p:sp>
        <p:nvSpPr>
          <p:cNvPr id="6" name="Text 4"/>
          <p:cNvSpPr/>
          <p:nvPr/>
        </p:nvSpPr>
        <p:spPr>
          <a:xfrm>
            <a:off x="329184" y="850392"/>
            <a:ext cx="2505456"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Portal del Cliente</a:t>
            </a:r>
            <a:endParaRPr lang="en-US" sz="1300" dirty="0"/>
          </a:p>
        </p:txBody>
      </p:sp>
      <p:sp>
        <p:nvSpPr>
          <p:cNvPr id="7" name="Shape 5"/>
          <p:cNvSpPr/>
          <p:nvPr/>
        </p:nvSpPr>
        <p:spPr>
          <a:xfrm>
            <a:off x="438912" y="1865376"/>
            <a:ext cx="137160" cy="137160"/>
          </a:xfrm>
          <a:prstGeom prst="ellipse">
            <a:avLst/>
          </a:prstGeom>
          <a:solidFill>
            <a:srgbClr val="0D9488"/>
          </a:solidFill>
          <a:ln/>
        </p:spPr>
      </p:sp>
      <p:sp>
        <p:nvSpPr>
          <p:cNvPr id="8" name="Text 6"/>
          <p:cNvSpPr/>
          <p:nvPr/>
        </p:nvSpPr>
        <p:spPr>
          <a:xfrm>
            <a:off x="640080" y="172821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Catálogo con búsqueda textual en tiempo real</a:t>
            </a:r>
            <a:endParaRPr lang="en-US" sz="1150" dirty="0"/>
          </a:p>
        </p:txBody>
      </p:sp>
      <p:sp>
        <p:nvSpPr>
          <p:cNvPr id="9" name="Shape 7"/>
          <p:cNvSpPr/>
          <p:nvPr/>
        </p:nvSpPr>
        <p:spPr>
          <a:xfrm>
            <a:off x="438912" y="2688336"/>
            <a:ext cx="137160" cy="137160"/>
          </a:xfrm>
          <a:prstGeom prst="ellipse">
            <a:avLst/>
          </a:prstGeom>
          <a:solidFill>
            <a:srgbClr val="0D9488"/>
          </a:solidFill>
          <a:ln/>
        </p:spPr>
      </p:sp>
      <p:sp>
        <p:nvSpPr>
          <p:cNvPr id="10" name="Text 8"/>
          <p:cNvSpPr/>
          <p:nvPr/>
        </p:nvSpPr>
        <p:spPr>
          <a:xfrm>
            <a:off x="640080" y="255117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Filtros por especie (perro/gato) y etapa de vida</a:t>
            </a:r>
            <a:endParaRPr lang="en-US" sz="1150" dirty="0"/>
          </a:p>
        </p:txBody>
      </p:sp>
      <p:sp>
        <p:nvSpPr>
          <p:cNvPr id="11" name="Shape 9"/>
          <p:cNvSpPr/>
          <p:nvPr/>
        </p:nvSpPr>
        <p:spPr>
          <a:xfrm>
            <a:off x="438912" y="3511296"/>
            <a:ext cx="137160" cy="137160"/>
          </a:xfrm>
          <a:prstGeom prst="ellipse">
            <a:avLst/>
          </a:prstGeom>
          <a:solidFill>
            <a:srgbClr val="0D9488"/>
          </a:solidFill>
          <a:ln/>
        </p:spPr>
      </p:sp>
      <p:sp>
        <p:nvSpPr>
          <p:cNvPr id="12" name="Text 10"/>
          <p:cNvSpPr/>
          <p:nvPr/>
        </p:nvSpPr>
        <p:spPr>
          <a:xfrm>
            <a:off x="640080" y="337413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Semáforo de stock: Disponible / Bajo / Agotado</a:t>
            </a:r>
            <a:endParaRPr lang="en-US" sz="1150" dirty="0"/>
          </a:p>
        </p:txBody>
      </p:sp>
      <p:sp>
        <p:nvSpPr>
          <p:cNvPr id="13" name="Shape 11"/>
          <p:cNvSpPr/>
          <p:nvPr/>
        </p:nvSpPr>
        <p:spPr>
          <a:xfrm>
            <a:off x="438912" y="4334256"/>
            <a:ext cx="137160" cy="137160"/>
          </a:xfrm>
          <a:prstGeom prst="ellipse">
            <a:avLst/>
          </a:prstGeom>
          <a:solidFill>
            <a:srgbClr val="0D9488"/>
          </a:solidFill>
          <a:ln/>
        </p:spPr>
      </p:sp>
      <p:sp>
        <p:nvSpPr>
          <p:cNvPr id="14" name="Text 12"/>
          <p:cNvSpPr/>
          <p:nvPr/>
        </p:nvSpPr>
        <p:spPr>
          <a:xfrm>
            <a:off x="640080" y="419709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Carrito con validación estricta de existencias</a:t>
            </a:r>
            <a:endParaRPr lang="en-US" sz="1150" dirty="0"/>
          </a:p>
        </p:txBody>
      </p:sp>
      <p:sp>
        <p:nvSpPr>
          <p:cNvPr id="15" name="Shape 13"/>
          <p:cNvSpPr/>
          <p:nvPr/>
        </p:nvSpPr>
        <p:spPr>
          <a:xfrm>
            <a:off x="3145536" y="822960"/>
            <a:ext cx="2651760" cy="749808"/>
          </a:xfrm>
          <a:prstGeom prst="roundRect">
            <a:avLst>
              <a:gd name="adj" fmla="val 9756"/>
            </a:avLst>
          </a:prstGeom>
          <a:solidFill>
            <a:srgbClr val="1B2A4A"/>
          </a:solidFill>
          <a:ln/>
        </p:spPr>
      </p:sp>
      <p:sp>
        <p:nvSpPr>
          <p:cNvPr id="16" name="Text 14"/>
          <p:cNvSpPr/>
          <p:nvPr/>
        </p:nvSpPr>
        <p:spPr>
          <a:xfrm>
            <a:off x="3218688" y="850392"/>
            <a:ext cx="2505456"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Panel Administrativo</a:t>
            </a:r>
            <a:endParaRPr lang="en-US" sz="1300" dirty="0"/>
          </a:p>
        </p:txBody>
      </p:sp>
      <p:sp>
        <p:nvSpPr>
          <p:cNvPr id="17" name="Shape 15"/>
          <p:cNvSpPr/>
          <p:nvPr/>
        </p:nvSpPr>
        <p:spPr>
          <a:xfrm>
            <a:off x="3328416" y="1865376"/>
            <a:ext cx="137160" cy="137160"/>
          </a:xfrm>
          <a:prstGeom prst="ellipse">
            <a:avLst/>
          </a:prstGeom>
          <a:solidFill>
            <a:srgbClr val="1B2A4A"/>
          </a:solidFill>
          <a:ln/>
        </p:spPr>
      </p:sp>
      <p:sp>
        <p:nvSpPr>
          <p:cNvPr id="18" name="Text 16"/>
          <p:cNvSpPr/>
          <p:nvPr/>
        </p:nvSpPr>
        <p:spPr>
          <a:xfrm>
            <a:off x="3529584" y="172821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Dashboard de KPIs: total productos y pedidos</a:t>
            </a:r>
            <a:endParaRPr lang="en-US" sz="1150" dirty="0"/>
          </a:p>
        </p:txBody>
      </p:sp>
      <p:sp>
        <p:nvSpPr>
          <p:cNvPr id="19" name="Shape 17"/>
          <p:cNvSpPr/>
          <p:nvPr/>
        </p:nvSpPr>
        <p:spPr>
          <a:xfrm>
            <a:off x="3328416" y="2688336"/>
            <a:ext cx="137160" cy="137160"/>
          </a:xfrm>
          <a:prstGeom prst="ellipse">
            <a:avLst/>
          </a:prstGeom>
          <a:solidFill>
            <a:srgbClr val="1B2A4A"/>
          </a:solidFill>
          <a:ln/>
        </p:spPr>
      </p:sp>
      <p:sp>
        <p:nvSpPr>
          <p:cNvPr id="20" name="Text 18"/>
          <p:cNvSpPr/>
          <p:nvPr/>
        </p:nvSpPr>
        <p:spPr>
          <a:xfrm>
            <a:off x="3529584" y="255117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Inventario editable in-line con botones +/−</a:t>
            </a:r>
            <a:endParaRPr lang="en-US" sz="1150" dirty="0"/>
          </a:p>
        </p:txBody>
      </p:sp>
      <p:sp>
        <p:nvSpPr>
          <p:cNvPr id="21" name="Shape 19"/>
          <p:cNvSpPr/>
          <p:nvPr/>
        </p:nvSpPr>
        <p:spPr>
          <a:xfrm>
            <a:off x="3328416" y="3511296"/>
            <a:ext cx="137160" cy="137160"/>
          </a:xfrm>
          <a:prstGeom prst="ellipse">
            <a:avLst/>
          </a:prstGeom>
          <a:solidFill>
            <a:srgbClr val="1B2A4A"/>
          </a:solidFill>
          <a:ln/>
        </p:spPr>
      </p:sp>
      <p:sp>
        <p:nvSpPr>
          <p:cNvPr id="22" name="Text 20"/>
          <p:cNvSpPr/>
          <p:nvPr/>
        </p:nvSpPr>
        <p:spPr>
          <a:xfrm>
            <a:off x="3529584" y="337413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Agenda logística con estados de entrega</a:t>
            </a:r>
            <a:endParaRPr lang="en-US" sz="1150" dirty="0"/>
          </a:p>
        </p:txBody>
      </p:sp>
      <p:sp>
        <p:nvSpPr>
          <p:cNvPr id="23" name="Shape 21"/>
          <p:cNvSpPr/>
          <p:nvPr/>
        </p:nvSpPr>
        <p:spPr>
          <a:xfrm>
            <a:off x="3328416" y="4334256"/>
            <a:ext cx="137160" cy="137160"/>
          </a:xfrm>
          <a:prstGeom prst="ellipse">
            <a:avLst/>
          </a:prstGeom>
          <a:solidFill>
            <a:srgbClr val="1B2A4A"/>
          </a:solidFill>
          <a:ln/>
        </p:spPr>
      </p:sp>
      <p:sp>
        <p:nvSpPr>
          <p:cNvPr id="24" name="Text 22"/>
          <p:cNvSpPr/>
          <p:nvPr/>
        </p:nvSpPr>
        <p:spPr>
          <a:xfrm>
            <a:off x="3529584" y="419709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Alta de productos con precio y emoji</a:t>
            </a:r>
            <a:endParaRPr lang="en-US" sz="1150" dirty="0"/>
          </a:p>
        </p:txBody>
      </p:sp>
      <p:sp>
        <p:nvSpPr>
          <p:cNvPr id="25" name="Shape 23"/>
          <p:cNvSpPr/>
          <p:nvPr/>
        </p:nvSpPr>
        <p:spPr>
          <a:xfrm>
            <a:off x="6035040" y="822960"/>
            <a:ext cx="2651760" cy="749808"/>
          </a:xfrm>
          <a:prstGeom prst="roundRect">
            <a:avLst>
              <a:gd name="adj" fmla="val 9756"/>
            </a:avLst>
          </a:prstGeom>
          <a:solidFill>
            <a:srgbClr val="0F766E"/>
          </a:solidFill>
          <a:ln/>
        </p:spPr>
      </p:sp>
      <p:sp>
        <p:nvSpPr>
          <p:cNvPr id="26" name="Text 24"/>
          <p:cNvSpPr/>
          <p:nvPr/>
        </p:nvSpPr>
        <p:spPr>
          <a:xfrm>
            <a:off x="6108192" y="850392"/>
            <a:ext cx="2505456" cy="69494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  Motor Reactivo</a:t>
            </a:r>
            <a:endParaRPr lang="en-US" sz="1300" dirty="0"/>
          </a:p>
        </p:txBody>
      </p:sp>
      <p:sp>
        <p:nvSpPr>
          <p:cNvPr id="27" name="Shape 25"/>
          <p:cNvSpPr/>
          <p:nvPr/>
        </p:nvSpPr>
        <p:spPr>
          <a:xfrm>
            <a:off x="6217920" y="1865376"/>
            <a:ext cx="137160" cy="137160"/>
          </a:xfrm>
          <a:prstGeom prst="ellipse">
            <a:avLst/>
          </a:prstGeom>
          <a:solidFill>
            <a:srgbClr val="0F766E"/>
          </a:solidFill>
          <a:ln/>
        </p:spPr>
      </p:sp>
      <p:sp>
        <p:nvSpPr>
          <p:cNvPr id="28" name="Text 26"/>
          <p:cNvSpPr/>
          <p:nvPr/>
        </p:nvSpPr>
        <p:spPr>
          <a:xfrm>
            <a:off x="6419088" y="172821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shared.js como fuente de verdad central</a:t>
            </a:r>
            <a:endParaRPr lang="en-US" sz="1150" dirty="0"/>
          </a:p>
        </p:txBody>
      </p:sp>
      <p:sp>
        <p:nvSpPr>
          <p:cNvPr id="29" name="Shape 27"/>
          <p:cNvSpPr/>
          <p:nvPr/>
        </p:nvSpPr>
        <p:spPr>
          <a:xfrm>
            <a:off x="6217920" y="2688336"/>
            <a:ext cx="137160" cy="137160"/>
          </a:xfrm>
          <a:prstGeom prst="ellipse">
            <a:avLst/>
          </a:prstGeom>
          <a:solidFill>
            <a:srgbClr val="0F766E"/>
          </a:solidFill>
          <a:ln/>
        </p:spPr>
      </p:sp>
      <p:sp>
        <p:nvSpPr>
          <p:cNvPr id="30" name="Text 28"/>
          <p:cNvSpPr/>
          <p:nvPr/>
        </p:nvSpPr>
        <p:spPr>
          <a:xfrm>
            <a:off x="6419088" y="255117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Evento nativo window.addEventListener(storage)</a:t>
            </a:r>
            <a:endParaRPr lang="en-US" sz="1150" dirty="0"/>
          </a:p>
        </p:txBody>
      </p:sp>
      <p:sp>
        <p:nvSpPr>
          <p:cNvPr id="31" name="Shape 29"/>
          <p:cNvSpPr/>
          <p:nvPr/>
        </p:nvSpPr>
        <p:spPr>
          <a:xfrm>
            <a:off x="6217920" y="3511296"/>
            <a:ext cx="137160" cy="137160"/>
          </a:xfrm>
          <a:prstGeom prst="ellipse">
            <a:avLst/>
          </a:prstGeom>
          <a:solidFill>
            <a:srgbClr val="0F766E"/>
          </a:solidFill>
          <a:ln/>
        </p:spPr>
      </p:sp>
      <p:sp>
        <p:nvSpPr>
          <p:cNvPr id="32" name="Text 30"/>
          <p:cNvSpPr/>
          <p:nvPr/>
        </p:nvSpPr>
        <p:spPr>
          <a:xfrm>
            <a:off x="6419088" y="337413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Actualización inter-ventana en &lt; 0.5 segundos</a:t>
            </a:r>
            <a:endParaRPr lang="en-US" sz="1150" dirty="0"/>
          </a:p>
        </p:txBody>
      </p:sp>
      <p:sp>
        <p:nvSpPr>
          <p:cNvPr id="33" name="Shape 31"/>
          <p:cNvSpPr/>
          <p:nvPr/>
        </p:nvSpPr>
        <p:spPr>
          <a:xfrm>
            <a:off x="6217920" y="4334256"/>
            <a:ext cx="137160" cy="137160"/>
          </a:xfrm>
          <a:prstGeom prst="ellipse">
            <a:avLst/>
          </a:prstGeom>
          <a:solidFill>
            <a:srgbClr val="0F766E"/>
          </a:solidFill>
          <a:ln/>
        </p:spPr>
      </p:sp>
      <p:sp>
        <p:nvSpPr>
          <p:cNvPr id="34" name="Text 32"/>
          <p:cNvSpPr/>
          <p:nvPr/>
        </p:nvSpPr>
        <p:spPr>
          <a:xfrm>
            <a:off x="6419088" y="4197096"/>
            <a:ext cx="2157984" cy="74980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Sin servidor — Costo $0 MXN/mes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03 — Análisis de Negocio y Posicionamiento Estratégico</a:t>
            </a:r>
            <a:endParaRPr lang="en-US" sz="2000" dirty="0"/>
          </a:p>
        </p:txBody>
      </p:sp>
      <p:sp>
        <p:nvSpPr>
          <p:cNvPr id="5" name="Shape 3"/>
          <p:cNvSpPr/>
          <p:nvPr/>
        </p:nvSpPr>
        <p:spPr>
          <a:xfrm>
            <a:off x="256032" y="822960"/>
            <a:ext cx="2834640" cy="3520440"/>
          </a:xfrm>
          <a:prstGeom prst="roundRect">
            <a:avLst>
              <a:gd name="adj" fmla="val 3871"/>
            </a:avLst>
          </a:prstGeom>
          <a:solidFill>
            <a:srgbClr val="1B2A4A"/>
          </a:solidFill>
          <a:ln/>
        </p:spPr>
      </p:sp>
      <p:sp>
        <p:nvSpPr>
          <p:cNvPr id="6" name="Text 4"/>
          <p:cNvSpPr/>
          <p:nvPr/>
        </p:nvSpPr>
        <p:spPr>
          <a:xfrm>
            <a:off x="256032" y="960120"/>
            <a:ext cx="2834640" cy="1005840"/>
          </a:xfrm>
          <a:prstGeom prst="rect">
            <a:avLst/>
          </a:prstGeom>
          <a:noFill/>
          <a:ln/>
        </p:spPr>
        <p:txBody>
          <a:bodyPr wrap="square" lIns="0" tIns="0" rIns="0" bIns="0" rtlCol="0" anchor="ctr"/>
          <a:lstStyle/>
          <a:p>
            <a:pPr algn="ctr" indent="0" marL="0">
              <a:buNone/>
            </a:pPr>
            <a:r>
              <a:rPr lang="en-US" sz="5800" b="1" dirty="0">
                <a:solidFill>
                  <a:srgbClr val="5EEAD4"/>
                </a:solidFill>
                <a:latin typeface="Calibri" pitchFamily="34" charset="0"/>
                <a:ea typeface="Calibri" pitchFamily="34" charset="-122"/>
                <a:cs typeface="Calibri" pitchFamily="34" charset="-120"/>
              </a:rPr>
              <a:t>12%</a:t>
            </a:r>
            <a:endParaRPr lang="en-US" sz="5800" dirty="0"/>
          </a:p>
        </p:txBody>
      </p:sp>
      <p:sp>
        <p:nvSpPr>
          <p:cNvPr id="7" name="Text 5"/>
          <p:cNvSpPr/>
          <p:nvPr/>
        </p:nvSpPr>
        <p:spPr>
          <a:xfrm>
            <a:off x="256032" y="1993392"/>
            <a:ext cx="2834640" cy="822960"/>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Crecimiento anual</a:t>
            </a:r>
            <a:endParaRPr lang="en-US" sz="1300" dirty="0"/>
          </a:p>
          <a:p>
            <a:pPr algn="ctr" indent="0" marL="0">
              <a:buNone/>
            </a:pPr>
            <a:r>
              <a:rPr lang="en-US" sz="1300" dirty="0">
                <a:solidFill>
                  <a:srgbClr val="94A3B8"/>
                </a:solidFill>
                <a:latin typeface="Calibri" pitchFamily="34" charset="0"/>
                <a:ea typeface="Calibri" pitchFamily="34" charset="-122"/>
                <a:cs typeface="Calibri" pitchFamily="34" charset="-120"/>
              </a:rPr>
              <a:t>del mercado pet</a:t>
            </a:r>
            <a:endParaRPr lang="en-US" sz="1300" dirty="0"/>
          </a:p>
          <a:p>
            <a:pPr algn="ctr" indent="0" marL="0">
              <a:buNone/>
            </a:pPr>
            <a:r>
              <a:rPr lang="en-US" sz="1300" dirty="0">
                <a:solidFill>
                  <a:srgbClr val="94A3B8"/>
                </a:solidFill>
                <a:latin typeface="Calibri" pitchFamily="34" charset="0"/>
                <a:ea typeface="Calibri" pitchFamily="34" charset="-122"/>
                <a:cs typeface="Calibri" pitchFamily="34" charset="-120"/>
              </a:rPr>
              <a:t>en México</a:t>
            </a:r>
            <a:endParaRPr lang="en-US" sz="1300" dirty="0"/>
          </a:p>
        </p:txBody>
      </p:sp>
      <p:sp>
        <p:nvSpPr>
          <p:cNvPr id="8" name="Shape 6"/>
          <p:cNvSpPr/>
          <p:nvPr/>
        </p:nvSpPr>
        <p:spPr>
          <a:xfrm>
            <a:off x="621792" y="2971800"/>
            <a:ext cx="2103120" cy="36576"/>
          </a:xfrm>
          <a:prstGeom prst="rect">
            <a:avLst/>
          </a:prstGeom>
          <a:solidFill>
            <a:srgbClr val="0D9488"/>
          </a:solidFill>
          <a:ln/>
        </p:spPr>
      </p:sp>
      <p:sp>
        <p:nvSpPr>
          <p:cNvPr id="9" name="Text 7"/>
          <p:cNvSpPr/>
          <p:nvPr/>
        </p:nvSpPr>
        <p:spPr>
          <a:xfrm>
            <a:off x="256032" y="3054096"/>
            <a:ext cx="2834640" cy="502920"/>
          </a:xfrm>
          <a:prstGeom prst="rect">
            <a:avLst/>
          </a:prstGeom>
          <a:noFill/>
          <a:ln/>
        </p:spPr>
        <p:txBody>
          <a:bodyPr wrap="square" lIns="0" tIns="0" rIns="0" bIns="0" rtlCol="0" anchor="ctr"/>
          <a:lstStyle/>
          <a:p>
            <a:pPr algn="ctr" indent="0" marL="0">
              <a:buNone/>
            </a:pPr>
            <a:r>
              <a:rPr lang="en-US" sz="2800" b="1" dirty="0">
                <a:solidFill>
                  <a:srgbClr val="F59E0B"/>
                </a:solidFill>
                <a:latin typeface="Calibri" pitchFamily="34" charset="0"/>
                <a:ea typeface="Calibri" pitchFamily="34" charset="-122"/>
                <a:cs typeface="Calibri" pitchFamily="34" charset="-120"/>
              </a:rPr>
              <a:t>78%</a:t>
            </a:r>
            <a:endParaRPr lang="en-US" sz="2800" dirty="0"/>
          </a:p>
        </p:txBody>
      </p:sp>
      <p:sp>
        <p:nvSpPr>
          <p:cNvPr id="10" name="Text 8"/>
          <p:cNvSpPr/>
          <p:nvPr/>
        </p:nvSpPr>
        <p:spPr>
          <a:xfrm>
            <a:off x="256032" y="3566160"/>
            <a:ext cx="2834640" cy="5029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depende solo</a:t>
            </a:r>
            <a:endParaRPr lang="en-US" sz="1100" dirty="0"/>
          </a:p>
          <a:p>
            <a:pPr algn="ctr" indent="0" marL="0">
              <a:buNone/>
            </a:pPr>
            <a:r>
              <a:rPr lang="en-US" sz="1100" dirty="0">
                <a:solidFill>
                  <a:srgbClr val="94A3B8"/>
                </a:solidFill>
                <a:latin typeface="Calibri" pitchFamily="34" charset="0"/>
                <a:ea typeface="Calibri" pitchFamily="34" charset="-122"/>
                <a:cs typeface="Calibri" pitchFamily="34" charset="-120"/>
              </a:rPr>
              <a:t>de WhatsApp</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337560" y="822960"/>
          <a:ext cx="5532120" cy="914400"/>
        </p:xfrm>
        <a:graphic>
          <a:graphicData uri="http://schemas.openxmlformats.org/drawingml/2006/table">
            <a:tbl>
              <a:tblPr/>
              <a:tblGrid>
                <a:gridCol w="1965960"/>
                <a:gridCol w="1188720"/>
                <a:gridCol w="868680"/>
                <a:gridCol w="1325880"/>
              </a:tblGrid>
              <a:tr h="566928">
                <a:tc>
                  <a:txBody>
                    <a:bodyPr/>
                    <a:lstStyle/>
                    <a:p>
                      <a:pPr indent="0" marL="0">
                        <a:buNone/>
                      </a:pP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Petco / Amazon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Locales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CroquetaPet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D9488"/>
                    </a:solidFill>
                  </a:tcPr>
                </a:tc>
              </a:tr>
              <a:tr h="56692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Entrega mismo día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16A34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16A34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Catálogo digital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A34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6A34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Stock en tiempo real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16A34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DC2626"/>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16A34A"/>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r h="56692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Inversión ($MXN)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30,000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566928">
                <a:tc>
                  <a:txBody>
                    <a:bodyPr/>
                    <a:lstStyle/>
                    <a:p>
                      <a:pPr algn="l" indent="0" marL="0">
                        <a:buNone/>
                      </a:pPr>
                      <a:r>
                        <a:rPr lang="en-US" sz="1100" b="1" dirty="0">
                          <a:solidFill>
                            <a:srgbClr val="0F172A"/>
                          </a:solidFill>
                          <a:latin typeface="Calibri" pitchFamily="34" charset="0"/>
                          <a:ea typeface="Calibri" pitchFamily="34" charset="-122"/>
                          <a:cs typeface="Calibri" pitchFamily="34" charset="-120"/>
                        </a:rPr>
                        <a:t>Costo mensual</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Alto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dirty="0">
                          <a:solidFill>
                            <a:srgbClr val="475569"/>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04 — Análisis de Factibilidad</a:t>
            </a:r>
            <a:endParaRPr lang="en-US" sz="2000" dirty="0"/>
          </a:p>
        </p:txBody>
      </p:sp>
      <p:sp>
        <p:nvSpPr>
          <p:cNvPr id="5" name="Shape 3"/>
          <p:cNvSpPr/>
          <p:nvPr/>
        </p:nvSpPr>
        <p:spPr>
          <a:xfrm>
            <a:off x="256032" y="822960"/>
            <a:ext cx="2651760" cy="621792"/>
          </a:xfrm>
          <a:prstGeom prst="roundRect">
            <a:avLst>
              <a:gd name="adj" fmla="val 11765"/>
            </a:avLst>
          </a:prstGeom>
          <a:solidFill>
            <a:srgbClr val="0D9488"/>
          </a:solidFill>
          <a:ln/>
        </p:spPr>
      </p:sp>
      <p:sp>
        <p:nvSpPr>
          <p:cNvPr id="6" name="Text 4"/>
          <p:cNvSpPr/>
          <p:nvPr/>
        </p:nvSpPr>
        <p:spPr>
          <a:xfrm>
            <a:off x="329184" y="850392"/>
            <a:ext cx="250545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Técnica</a:t>
            </a:r>
            <a:endParaRPr lang="en-US" sz="1400" dirty="0"/>
          </a:p>
        </p:txBody>
      </p:sp>
      <p:sp>
        <p:nvSpPr>
          <p:cNvPr id="7" name="Shape 5"/>
          <p:cNvSpPr/>
          <p:nvPr/>
        </p:nvSpPr>
        <p:spPr>
          <a:xfrm>
            <a:off x="365760" y="1554480"/>
            <a:ext cx="2432304" cy="713232"/>
          </a:xfrm>
          <a:prstGeom prst="roundRect">
            <a:avLst>
              <a:gd name="adj" fmla="val 7692"/>
            </a:avLst>
          </a:prstGeom>
          <a:solidFill>
            <a:srgbClr val="F8FAFC"/>
          </a:solidFill>
          <a:ln w="12700">
            <a:solidFill>
              <a:srgbClr val="E2E8F0"/>
            </a:solidFill>
            <a:prstDash val="solid"/>
          </a:ln>
        </p:spPr>
      </p:sp>
      <p:sp>
        <p:nvSpPr>
          <p:cNvPr id="8" name="Text 6"/>
          <p:cNvSpPr/>
          <p:nvPr/>
        </p:nvSpPr>
        <p:spPr>
          <a:xfrm>
            <a:off x="438912" y="1581912"/>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HTML5 + CSS3 + JavaScript ES6+</a:t>
            </a:r>
            <a:endParaRPr lang="en-US" sz="1150" dirty="0"/>
          </a:p>
        </p:txBody>
      </p:sp>
      <p:sp>
        <p:nvSpPr>
          <p:cNvPr id="9" name="Shape 7"/>
          <p:cNvSpPr/>
          <p:nvPr/>
        </p:nvSpPr>
        <p:spPr>
          <a:xfrm>
            <a:off x="365760" y="2395728"/>
            <a:ext cx="2432304" cy="713232"/>
          </a:xfrm>
          <a:prstGeom prst="roundRect">
            <a:avLst>
              <a:gd name="adj" fmla="val 7692"/>
            </a:avLst>
          </a:prstGeom>
          <a:solidFill>
            <a:srgbClr val="F8FAFC"/>
          </a:solidFill>
          <a:ln w="12700">
            <a:solidFill>
              <a:srgbClr val="E2E8F0"/>
            </a:solidFill>
            <a:prstDash val="solid"/>
          </a:ln>
        </p:spPr>
      </p:sp>
      <p:sp>
        <p:nvSpPr>
          <p:cNvPr id="10" name="Text 8"/>
          <p:cNvSpPr/>
          <p:nvPr/>
        </p:nvSpPr>
        <p:spPr>
          <a:xfrm>
            <a:off x="438912" y="2423160"/>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Sin frameworks — Vanilla Architecture</a:t>
            </a:r>
            <a:endParaRPr lang="en-US" sz="1150" dirty="0"/>
          </a:p>
        </p:txBody>
      </p:sp>
      <p:sp>
        <p:nvSpPr>
          <p:cNvPr id="11" name="Shape 9"/>
          <p:cNvSpPr/>
          <p:nvPr/>
        </p:nvSpPr>
        <p:spPr>
          <a:xfrm>
            <a:off x="365760" y="3236976"/>
            <a:ext cx="2432304" cy="713232"/>
          </a:xfrm>
          <a:prstGeom prst="roundRect">
            <a:avLst>
              <a:gd name="adj" fmla="val 7692"/>
            </a:avLst>
          </a:prstGeom>
          <a:solidFill>
            <a:srgbClr val="F8FAFC"/>
          </a:solidFill>
          <a:ln w="12700">
            <a:solidFill>
              <a:srgbClr val="E2E8F0"/>
            </a:solidFill>
            <a:prstDash val="solid"/>
          </a:ln>
        </p:spPr>
      </p:sp>
      <p:sp>
        <p:nvSpPr>
          <p:cNvPr id="12" name="Text 10"/>
          <p:cNvSpPr/>
          <p:nvPr/>
        </p:nvSpPr>
        <p:spPr>
          <a:xfrm>
            <a:off x="438912" y="3264408"/>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localStorage como base de datos local</a:t>
            </a:r>
            <a:endParaRPr lang="en-US" sz="1150" dirty="0"/>
          </a:p>
        </p:txBody>
      </p:sp>
      <p:sp>
        <p:nvSpPr>
          <p:cNvPr id="13" name="Shape 11"/>
          <p:cNvSpPr/>
          <p:nvPr/>
        </p:nvSpPr>
        <p:spPr>
          <a:xfrm>
            <a:off x="365760" y="4078224"/>
            <a:ext cx="2432304" cy="713232"/>
          </a:xfrm>
          <a:prstGeom prst="roundRect">
            <a:avLst>
              <a:gd name="adj" fmla="val 7692"/>
            </a:avLst>
          </a:prstGeom>
          <a:solidFill>
            <a:srgbClr val="F8FAFC"/>
          </a:solidFill>
          <a:ln w="12700">
            <a:solidFill>
              <a:srgbClr val="E2E8F0"/>
            </a:solidFill>
            <a:prstDash val="solid"/>
          </a:ln>
        </p:spPr>
      </p:sp>
      <p:sp>
        <p:nvSpPr>
          <p:cNvPr id="14" name="Text 12"/>
          <p:cNvSpPr/>
          <p:nvPr/>
        </p:nvSpPr>
        <p:spPr>
          <a:xfrm>
            <a:off x="438912" y="4105656"/>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Evento storage para sincronización</a:t>
            </a:r>
            <a:endParaRPr lang="en-US" sz="1150" dirty="0"/>
          </a:p>
        </p:txBody>
      </p:sp>
      <p:sp>
        <p:nvSpPr>
          <p:cNvPr id="15" name="Shape 13"/>
          <p:cNvSpPr/>
          <p:nvPr/>
        </p:nvSpPr>
        <p:spPr>
          <a:xfrm>
            <a:off x="3145536" y="822960"/>
            <a:ext cx="2651760" cy="621792"/>
          </a:xfrm>
          <a:prstGeom prst="roundRect">
            <a:avLst>
              <a:gd name="adj" fmla="val 11765"/>
            </a:avLst>
          </a:prstGeom>
          <a:solidFill>
            <a:srgbClr val="1B2A4A"/>
          </a:solidFill>
          <a:ln/>
        </p:spPr>
      </p:sp>
      <p:sp>
        <p:nvSpPr>
          <p:cNvPr id="16" name="Text 14"/>
          <p:cNvSpPr/>
          <p:nvPr/>
        </p:nvSpPr>
        <p:spPr>
          <a:xfrm>
            <a:off x="3218688" y="850392"/>
            <a:ext cx="250545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Económica</a:t>
            </a:r>
            <a:endParaRPr lang="en-US" sz="1400" dirty="0"/>
          </a:p>
        </p:txBody>
      </p:sp>
      <p:sp>
        <p:nvSpPr>
          <p:cNvPr id="17" name="Shape 15"/>
          <p:cNvSpPr/>
          <p:nvPr/>
        </p:nvSpPr>
        <p:spPr>
          <a:xfrm>
            <a:off x="3255264" y="1554480"/>
            <a:ext cx="2432304" cy="713232"/>
          </a:xfrm>
          <a:prstGeom prst="roundRect">
            <a:avLst>
              <a:gd name="adj" fmla="val 7692"/>
            </a:avLst>
          </a:prstGeom>
          <a:solidFill>
            <a:srgbClr val="F8FAFC"/>
          </a:solidFill>
          <a:ln w="12700">
            <a:solidFill>
              <a:srgbClr val="E2E8F0"/>
            </a:solidFill>
            <a:prstDash val="solid"/>
          </a:ln>
        </p:spPr>
      </p:sp>
      <p:sp>
        <p:nvSpPr>
          <p:cNvPr id="18" name="Text 16"/>
          <p:cNvSpPr/>
          <p:nvPr/>
        </p:nvSpPr>
        <p:spPr>
          <a:xfrm>
            <a:off x="3328416" y="1581912"/>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Inversión: $30,000 MXN (única vez)</a:t>
            </a:r>
            <a:endParaRPr lang="en-US" sz="1150" dirty="0"/>
          </a:p>
        </p:txBody>
      </p:sp>
      <p:sp>
        <p:nvSpPr>
          <p:cNvPr id="19" name="Shape 17"/>
          <p:cNvSpPr/>
          <p:nvPr/>
        </p:nvSpPr>
        <p:spPr>
          <a:xfrm>
            <a:off x="3255264" y="2395728"/>
            <a:ext cx="2432304" cy="713232"/>
          </a:xfrm>
          <a:prstGeom prst="roundRect">
            <a:avLst>
              <a:gd name="adj" fmla="val 7692"/>
            </a:avLst>
          </a:prstGeom>
          <a:solidFill>
            <a:srgbClr val="F8FAFC"/>
          </a:solidFill>
          <a:ln w="12700">
            <a:solidFill>
              <a:srgbClr val="E2E8F0"/>
            </a:solidFill>
            <a:prstDash val="solid"/>
          </a:ln>
        </p:spPr>
      </p:sp>
      <p:sp>
        <p:nvSpPr>
          <p:cNvPr id="20" name="Text 18"/>
          <p:cNvSpPr/>
          <p:nvPr/>
        </p:nvSpPr>
        <p:spPr>
          <a:xfrm>
            <a:off x="3328416" y="2423160"/>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Infraestructura mensual: $0 MXN</a:t>
            </a:r>
            <a:endParaRPr lang="en-US" sz="1150" dirty="0"/>
          </a:p>
        </p:txBody>
      </p:sp>
      <p:sp>
        <p:nvSpPr>
          <p:cNvPr id="21" name="Shape 19"/>
          <p:cNvSpPr/>
          <p:nvPr/>
        </p:nvSpPr>
        <p:spPr>
          <a:xfrm>
            <a:off x="3255264" y="3236976"/>
            <a:ext cx="2432304" cy="713232"/>
          </a:xfrm>
          <a:prstGeom prst="roundRect">
            <a:avLst>
              <a:gd name="adj" fmla="val 7692"/>
            </a:avLst>
          </a:prstGeom>
          <a:solidFill>
            <a:srgbClr val="F8FAFC"/>
          </a:solidFill>
          <a:ln w="12700">
            <a:solidFill>
              <a:srgbClr val="E2E8F0"/>
            </a:solidFill>
            <a:prstDash val="solid"/>
          </a:ln>
        </p:spPr>
      </p:sp>
      <p:sp>
        <p:nvSpPr>
          <p:cNvPr id="22" name="Text 20"/>
          <p:cNvSpPr/>
          <p:nvPr/>
        </p:nvSpPr>
        <p:spPr>
          <a:xfrm>
            <a:off x="3328416" y="3264408"/>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Ahorro estimado: $18,000 MXN/año</a:t>
            </a:r>
            <a:endParaRPr lang="en-US" sz="1150" dirty="0"/>
          </a:p>
        </p:txBody>
      </p:sp>
      <p:sp>
        <p:nvSpPr>
          <p:cNvPr id="23" name="Shape 21"/>
          <p:cNvSpPr/>
          <p:nvPr/>
        </p:nvSpPr>
        <p:spPr>
          <a:xfrm>
            <a:off x="3255264" y="4078224"/>
            <a:ext cx="2432304" cy="713232"/>
          </a:xfrm>
          <a:prstGeom prst="roundRect">
            <a:avLst>
              <a:gd name="adj" fmla="val 7692"/>
            </a:avLst>
          </a:prstGeom>
          <a:solidFill>
            <a:srgbClr val="F8FAFC"/>
          </a:solidFill>
          <a:ln w="12700">
            <a:solidFill>
              <a:srgbClr val="E2E8F0"/>
            </a:solidFill>
            <a:prstDash val="solid"/>
          </a:ln>
        </p:spPr>
      </p:sp>
      <p:sp>
        <p:nvSpPr>
          <p:cNvPr id="24" name="Text 22"/>
          <p:cNvSpPr/>
          <p:nvPr/>
        </p:nvSpPr>
        <p:spPr>
          <a:xfrm>
            <a:off x="3328416" y="4105656"/>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Recuperación: 20 meses  ·  ROI 20 %</a:t>
            </a:r>
            <a:endParaRPr lang="en-US" sz="1150" dirty="0"/>
          </a:p>
        </p:txBody>
      </p:sp>
      <p:sp>
        <p:nvSpPr>
          <p:cNvPr id="25" name="Shape 23"/>
          <p:cNvSpPr/>
          <p:nvPr/>
        </p:nvSpPr>
        <p:spPr>
          <a:xfrm>
            <a:off x="6035040" y="822960"/>
            <a:ext cx="2651760" cy="621792"/>
          </a:xfrm>
          <a:prstGeom prst="roundRect">
            <a:avLst>
              <a:gd name="adj" fmla="val 11765"/>
            </a:avLst>
          </a:prstGeom>
          <a:solidFill>
            <a:srgbClr val="0F766E"/>
          </a:solidFill>
          <a:ln/>
        </p:spPr>
      </p:sp>
      <p:sp>
        <p:nvSpPr>
          <p:cNvPr id="26" name="Text 24"/>
          <p:cNvSpPr/>
          <p:nvPr/>
        </p:nvSpPr>
        <p:spPr>
          <a:xfrm>
            <a:off x="6108192" y="850392"/>
            <a:ext cx="2505456"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Operacional</a:t>
            </a:r>
            <a:endParaRPr lang="en-US" sz="1400" dirty="0"/>
          </a:p>
        </p:txBody>
      </p:sp>
      <p:sp>
        <p:nvSpPr>
          <p:cNvPr id="27" name="Shape 25"/>
          <p:cNvSpPr/>
          <p:nvPr/>
        </p:nvSpPr>
        <p:spPr>
          <a:xfrm>
            <a:off x="6144768" y="1554480"/>
            <a:ext cx="2432304" cy="713232"/>
          </a:xfrm>
          <a:prstGeom prst="roundRect">
            <a:avLst>
              <a:gd name="adj" fmla="val 7692"/>
            </a:avLst>
          </a:prstGeom>
          <a:solidFill>
            <a:srgbClr val="F8FAFC"/>
          </a:solidFill>
          <a:ln w="12700">
            <a:solidFill>
              <a:srgbClr val="E2E8F0"/>
            </a:solidFill>
            <a:prstDash val="solid"/>
          </a:ln>
        </p:spPr>
      </p:sp>
      <p:sp>
        <p:nvSpPr>
          <p:cNvPr id="28" name="Text 26"/>
          <p:cNvSpPr/>
          <p:nvPr/>
        </p:nvSpPr>
        <p:spPr>
          <a:xfrm>
            <a:off x="6217920" y="1581912"/>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Edición de stock con botones +/−</a:t>
            </a:r>
            <a:endParaRPr lang="en-US" sz="1150" dirty="0"/>
          </a:p>
        </p:txBody>
      </p:sp>
      <p:sp>
        <p:nvSpPr>
          <p:cNvPr id="29" name="Shape 27"/>
          <p:cNvSpPr/>
          <p:nvPr/>
        </p:nvSpPr>
        <p:spPr>
          <a:xfrm>
            <a:off x="6144768" y="2395728"/>
            <a:ext cx="2432304" cy="713232"/>
          </a:xfrm>
          <a:prstGeom prst="roundRect">
            <a:avLst>
              <a:gd name="adj" fmla="val 7692"/>
            </a:avLst>
          </a:prstGeom>
          <a:solidFill>
            <a:srgbClr val="F8FAFC"/>
          </a:solidFill>
          <a:ln w="12700">
            <a:solidFill>
              <a:srgbClr val="E2E8F0"/>
            </a:solidFill>
            <a:prstDash val="solid"/>
          </a:ln>
        </p:spPr>
      </p:sp>
      <p:sp>
        <p:nvSpPr>
          <p:cNvPr id="30" name="Text 28"/>
          <p:cNvSpPr/>
          <p:nvPr/>
        </p:nvSpPr>
        <p:spPr>
          <a:xfrm>
            <a:off x="6217920" y="2423160"/>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Sin registro obligatorio de clientes</a:t>
            </a:r>
            <a:endParaRPr lang="en-US" sz="1150" dirty="0"/>
          </a:p>
        </p:txBody>
      </p:sp>
      <p:sp>
        <p:nvSpPr>
          <p:cNvPr id="31" name="Shape 29"/>
          <p:cNvSpPr/>
          <p:nvPr/>
        </p:nvSpPr>
        <p:spPr>
          <a:xfrm>
            <a:off x="6144768" y="3236976"/>
            <a:ext cx="2432304" cy="713232"/>
          </a:xfrm>
          <a:prstGeom prst="roundRect">
            <a:avLst>
              <a:gd name="adj" fmla="val 7692"/>
            </a:avLst>
          </a:prstGeom>
          <a:solidFill>
            <a:srgbClr val="F8FAFC"/>
          </a:solidFill>
          <a:ln w="12700">
            <a:solidFill>
              <a:srgbClr val="E2E8F0"/>
            </a:solidFill>
            <a:prstDash val="solid"/>
          </a:ln>
        </p:spPr>
      </p:sp>
      <p:sp>
        <p:nvSpPr>
          <p:cNvPr id="32" name="Text 30"/>
          <p:cNvSpPr/>
          <p:nvPr/>
        </p:nvSpPr>
        <p:spPr>
          <a:xfrm>
            <a:off x="6217920" y="3264408"/>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Diseño responsivo — móvil + escritorio</a:t>
            </a:r>
            <a:endParaRPr lang="en-US" sz="1150" dirty="0"/>
          </a:p>
        </p:txBody>
      </p:sp>
      <p:sp>
        <p:nvSpPr>
          <p:cNvPr id="33" name="Shape 31"/>
          <p:cNvSpPr/>
          <p:nvPr/>
        </p:nvSpPr>
        <p:spPr>
          <a:xfrm>
            <a:off x="6144768" y="4078224"/>
            <a:ext cx="2432304" cy="713232"/>
          </a:xfrm>
          <a:prstGeom prst="roundRect">
            <a:avLst>
              <a:gd name="adj" fmla="val 7692"/>
            </a:avLst>
          </a:prstGeom>
          <a:solidFill>
            <a:srgbClr val="F8FAFC"/>
          </a:solidFill>
          <a:ln w="12700">
            <a:solidFill>
              <a:srgbClr val="E2E8F0"/>
            </a:solidFill>
            <a:prstDash val="solid"/>
          </a:ln>
        </p:spPr>
      </p:sp>
      <p:sp>
        <p:nvSpPr>
          <p:cNvPr id="34" name="Text 32"/>
          <p:cNvSpPr/>
          <p:nvPr/>
        </p:nvSpPr>
        <p:spPr>
          <a:xfrm>
            <a:off x="6217920" y="4105656"/>
            <a:ext cx="2286000" cy="658368"/>
          </a:xfrm>
          <a:prstGeom prst="rect">
            <a:avLst/>
          </a:prstGeom>
          <a:noFill/>
          <a:ln/>
        </p:spPr>
        <p:txBody>
          <a:bodyPr wrap="square" lIns="0" tIns="0" rIns="0" bIns="0" rtlCol="0" anchor="ctr"/>
          <a:lstStyle/>
          <a:p>
            <a:pPr indent="0" marL="0">
              <a:buNone/>
            </a:pPr>
            <a:r>
              <a:rPr lang="en-US" sz="1150" dirty="0">
                <a:solidFill>
                  <a:srgbClr val="0F172A"/>
                </a:solidFill>
                <a:latin typeface="Calibri" pitchFamily="34" charset="0"/>
                <a:ea typeface="Calibri" pitchFamily="34" charset="-122"/>
                <a:cs typeface="Calibri" pitchFamily="34" charset="-120"/>
              </a:rPr>
              <a:t>Curva de aprendizaje &lt; 2 horas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05 — Estimación Formal por Puntos de Función (IFPUG)</a:t>
            </a:r>
            <a:endParaRPr lang="en-US" sz="2000" dirty="0"/>
          </a:p>
        </p:txBody>
      </p:sp>
      <p:sp>
        <p:nvSpPr>
          <p:cNvPr id="5" name="Shape 3"/>
          <p:cNvSpPr/>
          <p:nvPr/>
        </p:nvSpPr>
        <p:spPr>
          <a:xfrm>
            <a:off x="256032" y="822960"/>
            <a:ext cx="3200400" cy="3246120"/>
          </a:xfrm>
          <a:prstGeom prst="roundRect">
            <a:avLst>
              <a:gd name="adj" fmla="val 3429"/>
            </a:avLst>
          </a:prstGeom>
          <a:solidFill>
            <a:srgbClr val="1B2A4A"/>
          </a:solidFill>
          <a:ln/>
        </p:spPr>
      </p:sp>
      <p:sp>
        <p:nvSpPr>
          <p:cNvPr id="6" name="Text 4"/>
          <p:cNvSpPr/>
          <p:nvPr/>
        </p:nvSpPr>
        <p:spPr>
          <a:xfrm>
            <a:off x="256032" y="960120"/>
            <a:ext cx="3200400" cy="1371600"/>
          </a:xfrm>
          <a:prstGeom prst="rect">
            <a:avLst/>
          </a:prstGeom>
          <a:noFill/>
          <a:ln/>
        </p:spPr>
        <p:txBody>
          <a:bodyPr wrap="square" lIns="0" tIns="0" rIns="0" bIns="0" rtlCol="0" anchor="ctr"/>
          <a:lstStyle/>
          <a:p>
            <a:pPr algn="ctr" indent="0" marL="0">
              <a:buNone/>
            </a:pPr>
            <a:r>
              <a:rPr lang="en-US" sz="7600" b="1" dirty="0">
                <a:solidFill>
                  <a:srgbClr val="5EEAD4"/>
                </a:solidFill>
                <a:latin typeface="Calibri" pitchFamily="34" charset="0"/>
                <a:ea typeface="Calibri" pitchFamily="34" charset="-122"/>
                <a:cs typeface="Calibri" pitchFamily="34" charset="-120"/>
              </a:rPr>
              <a:t>39</a:t>
            </a:r>
            <a:endParaRPr lang="en-US" sz="7600" dirty="0"/>
          </a:p>
        </p:txBody>
      </p:sp>
      <p:sp>
        <p:nvSpPr>
          <p:cNvPr id="7" name="Text 5"/>
          <p:cNvSpPr/>
          <p:nvPr/>
        </p:nvSpPr>
        <p:spPr>
          <a:xfrm>
            <a:off x="256032" y="2377440"/>
            <a:ext cx="3200400" cy="658368"/>
          </a:xfrm>
          <a:prstGeom prst="rect">
            <a:avLst/>
          </a:prstGeom>
          <a:noFill/>
          <a:ln/>
        </p:spPr>
        <p:txBody>
          <a:bodyPr wrap="square" lIns="0" tIns="0" rIns="0" bIns="0" rtlCol="0" anchor="ctr"/>
          <a:lstStyle/>
          <a:p>
            <a:pPr algn="ctr" indent="0" marL="0">
              <a:buNone/>
            </a:pPr>
            <a:r>
              <a:rPr lang="en-US" sz="1300" dirty="0">
                <a:solidFill>
                  <a:srgbClr val="94A3B8"/>
                </a:solidFill>
                <a:latin typeface="Calibri" pitchFamily="34" charset="0"/>
                <a:ea typeface="Calibri" pitchFamily="34" charset="-122"/>
                <a:cs typeface="Calibri" pitchFamily="34" charset="-120"/>
              </a:rPr>
              <a:t>Puntos de Función</a:t>
            </a:r>
            <a:endParaRPr lang="en-US" sz="1300" dirty="0"/>
          </a:p>
          <a:p>
            <a:pPr algn="ctr" indent="0" marL="0">
              <a:buNone/>
            </a:pPr>
            <a:r>
              <a:rPr lang="en-US" sz="1300" dirty="0">
                <a:solidFill>
                  <a:srgbClr val="94A3B8"/>
                </a:solidFill>
                <a:latin typeface="Calibri" pitchFamily="34" charset="0"/>
                <a:ea typeface="Calibri" pitchFamily="34" charset="-122"/>
                <a:cs typeface="Calibri" pitchFamily="34" charset="-120"/>
              </a:rPr>
              <a:t>No Ajustados (PFNA)</a:t>
            </a:r>
            <a:endParaRPr lang="en-US" sz="1300" dirty="0"/>
          </a:p>
        </p:txBody>
      </p:sp>
      <p:sp>
        <p:nvSpPr>
          <p:cNvPr id="8" name="Shape 6"/>
          <p:cNvSpPr/>
          <p:nvPr/>
        </p:nvSpPr>
        <p:spPr>
          <a:xfrm>
            <a:off x="640080" y="3108960"/>
            <a:ext cx="2432304" cy="36576"/>
          </a:xfrm>
          <a:prstGeom prst="rect">
            <a:avLst/>
          </a:prstGeom>
          <a:solidFill>
            <a:srgbClr val="0D9488"/>
          </a:solidFill>
          <a:ln/>
        </p:spPr>
      </p:sp>
      <p:sp>
        <p:nvSpPr>
          <p:cNvPr id="9" name="Text 7"/>
          <p:cNvSpPr/>
          <p:nvPr/>
        </p:nvSpPr>
        <p:spPr>
          <a:xfrm>
            <a:off x="256032" y="3200400"/>
            <a:ext cx="3200400" cy="502920"/>
          </a:xfrm>
          <a:prstGeom prst="rect">
            <a:avLst/>
          </a:prstGeom>
          <a:noFill/>
          <a:ln/>
        </p:spPr>
        <p:txBody>
          <a:bodyPr wrap="square" lIns="0" tIns="0" rIns="0" bIns="0" rtlCol="0" anchor="ctr"/>
          <a:lstStyle/>
          <a:p>
            <a:pPr algn="ctr" indent="0" marL="0">
              <a:buNone/>
            </a:pPr>
            <a:r>
              <a:rPr lang="en-US" sz="1200" b="1" dirty="0">
                <a:solidFill>
                  <a:srgbClr val="F59E0B"/>
                </a:solidFill>
                <a:latin typeface="Calibri" pitchFamily="34" charset="0"/>
                <a:ea typeface="Calibri" pitchFamily="34" charset="-122"/>
                <a:cs typeface="Calibri" pitchFamily="34" charset="-120"/>
              </a:rPr>
              <a:t>Σ FAV = 40  →  PFA ajustado</a:t>
            </a:r>
            <a:endParaRPr lang="en-US" sz="1200" dirty="0"/>
          </a:p>
        </p:txBody>
      </p:sp>
      <p:sp>
        <p:nvSpPr>
          <p:cNvPr id="10" name="Shape 8"/>
          <p:cNvSpPr/>
          <p:nvPr/>
        </p:nvSpPr>
        <p:spPr>
          <a:xfrm>
            <a:off x="3749040" y="822960"/>
            <a:ext cx="2377440" cy="1508760"/>
          </a:xfrm>
          <a:prstGeom prst="roundRect">
            <a:avLst>
              <a:gd name="adj" fmla="val 6061"/>
            </a:avLst>
          </a:prstGeom>
          <a:solidFill>
            <a:srgbClr val="F8FAFC"/>
          </a:solidFill>
          <a:ln/>
          <a:effectLst>
            <a:outerShdw sx="100000" sy="100000" kx="0" ky="0" algn="bl" rotWithShape="0" blurRad="76200" dist="25400" dir="2700000">
              <a:srgbClr val="000000">
                <a:alpha val="9000"/>
              </a:srgbClr>
            </a:outerShdw>
          </a:effectLst>
        </p:spPr>
      </p:sp>
      <p:sp>
        <p:nvSpPr>
          <p:cNvPr id="11" name="Text 9"/>
          <p:cNvSpPr/>
          <p:nvPr/>
        </p:nvSpPr>
        <p:spPr>
          <a:xfrm>
            <a:off x="3840480" y="914400"/>
            <a:ext cx="2194560" cy="777240"/>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240</a:t>
            </a:r>
            <a:endParaRPr lang="en-US" sz="3000" dirty="0"/>
          </a:p>
        </p:txBody>
      </p:sp>
      <p:sp>
        <p:nvSpPr>
          <p:cNvPr id="12" name="Text 10"/>
          <p:cNvSpPr/>
          <p:nvPr/>
        </p:nvSpPr>
        <p:spPr>
          <a:xfrm>
            <a:off x="3840480" y="1664208"/>
            <a:ext cx="2194560" cy="5943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Horas-persona</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totales</a:t>
            </a:r>
            <a:endParaRPr lang="en-US" sz="1100" dirty="0"/>
          </a:p>
        </p:txBody>
      </p:sp>
      <p:sp>
        <p:nvSpPr>
          <p:cNvPr id="13" name="Shape 11"/>
          <p:cNvSpPr/>
          <p:nvPr/>
        </p:nvSpPr>
        <p:spPr>
          <a:xfrm>
            <a:off x="6355080" y="822960"/>
            <a:ext cx="2377440" cy="1508760"/>
          </a:xfrm>
          <a:prstGeom prst="roundRect">
            <a:avLst>
              <a:gd name="adj" fmla="val 6061"/>
            </a:avLst>
          </a:prstGeom>
          <a:solidFill>
            <a:srgbClr val="F8FAFC"/>
          </a:solidFill>
          <a:ln/>
          <a:effectLst>
            <a:outerShdw sx="100000" sy="100000" kx="0" ky="0" algn="bl" rotWithShape="0" blurRad="76200" dist="25400" dir="2700000">
              <a:srgbClr val="000000">
                <a:alpha val="9000"/>
              </a:srgbClr>
            </a:outerShdw>
          </a:effectLst>
        </p:spPr>
      </p:sp>
      <p:sp>
        <p:nvSpPr>
          <p:cNvPr id="14" name="Text 12"/>
          <p:cNvSpPr/>
          <p:nvPr/>
        </p:nvSpPr>
        <p:spPr>
          <a:xfrm>
            <a:off x="6446520" y="914400"/>
            <a:ext cx="2194560" cy="777240"/>
          </a:xfrm>
          <a:prstGeom prst="rect">
            <a:avLst/>
          </a:prstGeom>
          <a:noFill/>
          <a:ln/>
        </p:spPr>
        <p:txBody>
          <a:bodyPr wrap="square" lIns="0" tIns="0" rIns="0" bIns="0" rtlCol="0" anchor="ctr"/>
          <a:lstStyle/>
          <a:p>
            <a:pPr algn="ctr" indent="0" marL="0">
              <a:buNone/>
            </a:pPr>
            <a:r>
              <a:rPr lang="en-US" sz="3000" b="1" dirty="0">
                <a:solidFill>
                  <a:srgbClr val="0F766E"/>
                </a:solidFill>
                <a:latin typeface="Calibri" pitchFamily="34" charset="0"/>
                <a:ea typeface="Calibri" pitchFamily="34" charset="-122"/>
                <a:cs typeface="Calibri" pitchFamily="34" charset="-120"/>
              </a:rPr>
              <a:t>2.5</a:t>
            </a:r>
            <a:endParaRPr lang="en-US" sz="3000" dirty="0"/>
          </a:p>
        </p:txBody>
      </p:sp>
      <p:sp>
        <p:nvSpPr>
          <p:cNvPr id="15" name="Text 13"/>
          <p:cNvSpPr/>
          <p:nvPr/>
        </p:nvSpPr>
        <p:spPr>
          <a:xfrm>
            <a:off x="6446520" y="1664208"/>
            <a:ext cx="2194560" cy="5943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Meses de</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desarrollo</a:t>
            </a:r>
            <a:endParaRPr lang="en-US" sz="1100" dirty="0"/>
          </a:p>
        </p:txBody>
      </p:sp>
      <p:sp>
        <p:nvSpPr>
          <p:cNvPr id="16" name="Shape 14"/>
          <p:cNvSpPr/>
          <p:nvPr/>
        </p:nvSpPr>
        <p:spPr>
          <a:xfrm>
            <a:off x="3749040" y="2514600"/>
            <a:ext cx="2377440" cy="1508760"/>
          </a:xfrm>
          <a:prstGeom prst="roundRect">
            <a:avLst>
              <a:gd name="adj" fmla="val 6061"/>
            </a:avLst>
          </a:prstGeom>
          <a:solidFill>
            <a:srgbClr val="F8FAFC"/>
          </a:solidFill>
          <a:ln/>
          <a:effectLst>
            <a:outerShdw sx="100000" sy="100000" kx="0" ky="0" algn="bl" rotWithShape="0" blurRad="76200" dist="25400" dir="2700000">
              <a:srgbClr val="000000">
                <a:alpha val="9000"/>
              </a:srgbClr>
            </a:outerShdw>
          </a:effectLst>
        </p:spPr>
      </p:sp>
      <p:sp>
        <p:nvSpPr>
          <p:cNvPr id="17" name="Text 15"/>
          <p:cNvSpPr/>
          <p:nvPr/>
        </p:nvSpPr>
        <p:spPr>
          <a:xfrm>
            <a:off x="3840480" y="2606040"/>
            <a:ext cx="2194560" cy="777240"/>
          </a:xfrm>
          <a:prstGeom prst="rect">
            <a:avLst/>
          </a:prstGeom>
          <a:noFill/>
          <a:ln/>
        </p:spPr>
        <p:txBody>
          <a:bodyPr wrap="square" lIns="0" tIns="0" rIns="0" bIns="0" rtlCol="0" anchor="ctr"/>
          <a:lstStyle/>
          <a:p>
            <a:pPr algn="ctr" indent="0" marL="0">
              <a:buNone/>
            </a:pPr>
            <a:r>
              <a:rPr lang="en-US" sz="3000" b="1" dirty="0">
                <a:solidFill>
                  <a:srgbClr val="1B2A4A"/>
                </a:solidFill>
                <a:latin typeface="Calibri" pitchFamily="34" charset="0"/>
                <a:ea typeface="Calibri" pitchFamily="34" charset="-122"/>
                <a:cs typeface="Calibri" pitchFamily="34" charset="-120"/>
              </a:rPr>
              <a:t>$24K</a:t>
            </a:r>
            <a:endParaRPr lang="en-US" sz="3000" dirty="0"/>
          </a:p>
        </p:txBody>
      </p:sp>
      <p:sp>
        <p:nvSpPr>
          <p:cNvPr id="18" name="Text 16"/>
          <p:cNvSpPr/>
          <p:nvPr/>
        </p:nvSpPr>
        <p:spPr>
          <a:xfrm>
            <a:off x="3840480" y="3355848"/>
            <a:ext cx="2194560" cy="5943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Costo RRHH</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(MXN)</a:t>
            </a:r>
            <a:endParaRPr lang="en-US" sz="1100" dirty="0"/>
          </a:p>
        </p:txBody>
      </p:sp>
      <p:sp>
        <p:nvSpPr>
          <p:cNvPr id="19" name="Shape 17"/>
          <p:cNvSpPr/>
          <p:nvPr/>
        </p:nvSpPr>
        <p:spPr>
          <a:xfrm>
            <a:off x="6355080" y="2514600"/>
            <a:ext cx="2377440" cy="1508760"/>
          </a:xfrm>
          <a:prstGeom prst="roundRect">
            <a:avLst>
              <a:gd name="adj" fmla="val 6061"/>
            </a:avLst>
          </a:prstGeom>
          <a:solidFill>
            <a:srgbClr val="F8FAFC"/>
          </a:solidFill>
          <a:ln/>
          <a:effectLst>
            <a:outerShdw sx="100000" sy="100000" kx="0" ky="0" algn="bl" rotWithShape="0" blurRad="76200" dist="25400" dir="2700000">
              <a:srgbClr val="000000">
                <a:alpha val="9000"/>
              </a:srgbClr>
            </a:outerShdw>
          </a:effectLst>
        </p:spPr>
      </p:sp>
      <p:sp>
        <p:nvSpPr>
          <p:cNvPr id="20" name="Text 18"/>
          <p:cNvSpPr/>
          <p:nvPr/>
        </p:nvSpPr>
        <p:spPr>
          <a:xfrm>
            <a:off x="6446520" y="2606040"/>
            <a:ext cx="2194560" cy="777240"/>
          </a:xfrm>
          <a:prstGeom prst="rect">
            <a:avLst/>
          </a:prstGeom>
          <a:noFill/>
          <a:ln/>
        </p:spPr>
        <p:txBody>
          <a:bodyPr wrap="square" lIns="0" tIns="0" rIns="0" bIns="0" rtlCol="0" anchor="ctr"/>
          <a:lstStyle/>
          <a:p>
            <a:pPr algn="ctr" indent="0" marL="0">
              <a:buNone/>
            </a:pPr>
            <a:r>
              <a:rPr lang="en-US" sz="3000" b="1" dirty="0">
                <a:solidFill>
                  <a:srgbClr val="D97706"/>
                </a:solidFill>
                <a:latin typeface="Calibri" pitchFamily="34" charset="0"/>
                <a:ea typeface="Calibri" pitchFamily="34" charset="-122"/>
                <a:cs typeface="Calibri" pitchFamily="34" charset="-120"/>
              </a:rPr>
              <a:t>$30K</a:t>
            </a:r>
            <a:endParaRPr lang="en-US" sz="3000" dirty="0"/>
          </a:p>
        </p:txBody>
      </p:sp>
      <p:sp>
        <p:nvSpPr>
          <p:cNvPr id="21" name="Text 19"/>
          <p:cNvSpPr/>
          <p:nvPr/>
        </p:nvSpPr>
        <p:spPr>
          <a:xfrm>
            <a:off x="6446520" y="3355848"/>
            <a:ext cx="2194560" cy="59436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Costo total</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proyecto (MXN)</a:t>
            </a:r>
            <a:endParaRPr lang="en-US" sz="1100" dirty="0"/>
          </a:p>
        </p:txBody>
      </p:sp>
      <p:sp>
        <p:nvSpPr>
          <p:cNvPr id="22" name="Shape 20"/>
          <p:cNvSpPr/>
          <p:nvPr/>
        </p:nvSpPr>
        <p:spPr>
          <a:xfrm>
            <a:off x="3749040" y="4142232"/>
            <a:ext cx="5074920" cy="36576"/>
          </a:xfrm>
          <a:prstGeom prst="rect">
            <a:avLst/>
          </a:prstGeom>
          <a:solidFill>
            <a:srgbClr val="E2E8F0"/>
          </a:solidFill>
          <a:ln/>
        </p:spPr>
      </p:sp>
      <p:sp>
        <p:nvSpPr>
          <p:cNvPr id="23" name="Text 21"/>
          <p:cNvSpPr/>
          <p:nvPr/>
        </p:nvSpPr>
        <p:spPr>
          <a:xfrm>
            <a:off x="3749040" y="4224528"/>
            <a:ext cx="960120" cy="347472"/>
          </a:xfrm>
          <a:prstGeom prst="rect">
            <a:avLst/>
          </a:prstGeom>
          <a:noFill/>
          <a:ln/>
        </p:spPr>
        <p:txBody>
          <a:bodyPr wrap="square" lIns="0" tIns="0" rIns="0" bIns="0" rtlCol="0" anchor="ctr"/>
          <a:lstStyle/>
          <a:p>
            <a:pPr algn="ctr" indent="0" marL="0">
              <a:buNone/>
            </a:pPr>
            <a:r>
              <a:rPr lang="en-US" sz="1000" b="1" dirty="0">
                <a:solidFill>
                  <a:srgbClr val="0D9488"/>
                </a:solidFill>
                <a:latin typeface="Calibri" pitchFamily="34" charset="0"/>
                <a:ea typeface="Calibri" pitchFamily="34" charset="-122"/>
                <a:cs typeface="Calibri" pitchFamily="34" charset="-120"/>
              </a:rPr>
              <a:t>EE · 10 PF</a:t>
            </a:r>
            <a:endParaRPr lang="en-US" sz="1000" dirty="0"/>
          </a:p>
        </p:txBody>
      </p:sp>
      <p:sp>
        <p:nvSpPr>
          <p:cNvPr id="24" name="Text 22"/>
          <p:cNvSpPr/>
          <p:nvPr/>
        </p:nvSpPr>
        <p:spPr>
          <a:xfrm>
            <a:off x="4764024" y="4224528"/>
            <a:ext cx="960120" cy="347472"/>
          </a:xfrm>
          <a:prstGeom prst="rect">
            <a:avLst/>
          </a:prstGeom>
          <a:noFill/>
          <a:ln/>
        </p:spPr>
        <p:txBody>
          <a:bodyPr wrap="square" lIns="0" tIns="0" rIns="0" bIns="0" rtlCol="0" anchor="ctr"/>
          <a:lstStyle/>
          <a:p>
            <a:pPr algn="ctr" indent="0" marL="0">
              <a:buNone/>
            </a:pPr>
            <a:r>
              <a:rPr lang="en-US" sz="1000" b="1" dirty="0">
                <a:solidFill>
                  <a:srgbClr val="0F766E"/>
                </a:solidFill>
                <a:latin typeface="Calibri" pitchFamily="34" charset="0"/>
                <a:ea typeface="Calibri" pitchFamily="34" charset="-122"/>
                <a:cs typeface="Calibri" pitchFamily="34" charset="-120"/>
              </a:rPr>
              <a:t>SE · 4 PF</a:t>
            </a:r>
            <a:endParaRPr lang="en-US" sz="1000" dirty="0"/>
          </a:p>
        </p:txBody>
      </p:sp>
      <p:sp>
        <p:nvSpPr>
          <p:cNvPr id="25" name="Text 23"/>
          <p:cNvSpPr/>
          <p:nvPr/>
        </p:nvSpPr>
        <p:spPr>
          <a:xfrm>
            <a:off x="5779008" y="4224528"/>
            <a:ext cx="960120" cy="347472"/>
          </a:xfrm>
          <a:prstGeom prst="rect">
            <a:avLst/>
          </a:prstGeom>
          <a:noFill/>
          <a:ln/>
        </p:spPr>
        <p:txBody>
          <a:bodyPr wrap="square" lIns="0" tIns="0" rIns="0" bIns="0" rtlCol="0" anchor="ctr"/>
          <a:lstStyle/>
          <a:p>
            <a:pPr algn="ctr" indent="0" marL="0">
              <a:buNone/>
            </a:pPr>
            <a:r>
              <a:rPr lang="en-US" sz="1000" b="1" dirty="0">
                <a:solidFill>
                  <a:srgbClr val="065F46"/>
                </a:solidFill>
                <a:latin typeface="Calibri" pitchFamily="34" charset="0"/>
                <a:ea typeface="Calibri" pitchFamily="34" charset="-122"/>
                <a:cs typeface="Calibri" pitchFamily="34" charset="-120"/>
              </a:rPr>
              <a:t>CE · 11 PF</a:t>
            </a:r>
            <a:endParaRPr lang="en-US" sz="1000" dirty="0"/>
          </a:p>
        </p:txBody>
      </p:sp>
      <p:sp>
        <p:nvSpPr>
          <p:cNvPr id="26" name="Text 24"/>
          <p:cNvSpPr/>
          <p:nvPr/>
        </p:nvSpPr>
        <p:spPr>
          <a:xfrm>
            <a:off x="6793992" y="4224528"/>
            <a:ext cx="960120" cy="347472"/>
          </a:xfrm>
          <a:prstGeom prst="rect">
            <a:avLst/>
          </a:prstGeom>
          <a:noFill/>
          <a:ln/>
        </p:spPr>
        <p:txBody>
          <a:bodyPr wrap="square" lIns="0" tIns="0" rIns="0" bIns="0" rtlCol="0" anchor="ctr"/>
          <a:lstStyle/>
          <a:p>
            <a:pPr algn="ctr" indent="0" marL="0">
              <a:buNone/>
            </a:pPr>
            <a:r>
              <a:rPr lang="en-US" sz="1000" b="1" dirty="0">
                <a:solidFill>
                  <a:srgbClr val="1B2A4A"/>
                </a:solidFill>
                <a:latin typeface="Calibri" pitchFamily="34" charset="0"/>
                <a:ea typeface="Calibri" pitchFamily="34" charset="-122"/>
                <a:cs typeface="Calibri" pitchFamily="34" charset="-120"/>
              </a:rPr>
              <a:t>ALI · 14 PF</a:t>
            </a:r>
            <a:endParaRPr lang="en-US" sz="1000" dirty="0"/>
          </a:p>
        </p:txBody>
      </p:sp>
      <p:sp>
        <p:nvSpPr>
          <p:cNvPr id="27" name="Text 25"/>
          <p:cNvSpPr/>
          <p:nvPr/>
        </p:nvSpPr>
        <p:spPr>
          <a:xfrm>
            <a:off x="7808976" y="4224528"/>
            <a:ext cx="960120" cy="347472"/>
          </a:xfrm>
          <a:prstGeom prst="rect">
            <a:avLst/>
          </a:prstGeom>
          <a:noFill/>
          <a:ln/>
        </p:spPr>
        <p:txBody>
          <a:bodyPr wrap="square" lIns="0" tIns="0" rIns="0" bIns="0" rtlCol="0" anchor="ctr"/>
          <a:lstStyle/>
          <a:p>
            <a:pPr algn="ctr" indent="0" marL="0">
              <a:buNone/>
            </a:pPr>
            <a:r>
              <a:rPr lang="en-US" sz="1000" b="1" dirty="0">
                <a:solidFill>
                  <a:srgbClr val="94A3B8"/>
                </a:solidFill>
                <a:latin typeface="Calibri" pitchFamily="34" charset="0"/>
                <a:ea typeface="Calibri" pitchFamily="34" charset="-122"/>
                <a:cs typeface="Calibri" pitchFamily="34" charset="-120"/>
              </a:rPr>
              <a:t>AIE · 0 PF</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06 — Metodología Scrum: 6 Sprints · 16 Semanas</a:t>
            </a:r>
            <a:endParaRPr lang="en-US" sz="2000" dirty="0"/>
          </a:p>
        </p:txBody>
      </p:sp>
      <p:sp>
        <p:nvSpPr>
          <p:cNvPr id="5" name="Shape 3"/>
          <p:cNvSpPr/>
          <p:nvPr/>
        </p:nvSpPr>
        <p:spPr>
          <a:xfrm>
            <a:off x="1673352" y="1828800"/>
            <a:ext cx="320040" cy="0"/>
          </a:xfrm>
          <a:prstGeom prst="line">
            <a:avLst/>
          </a:prstGeom>
          <a:noFill/>
          <a:ln w="12700">
            <a:solidFill>
              <a:srgbClr val="CBD5E1"/>
            </a:solidFill>
            <a:prstDash val="dash"/>
          </a:ln>
        </p:spPr>
      </p:sp>
      <p:sp>
        <p:nvSpPr>
          <p:cNvPr id="6" name="Shape 4"/>
          <p:cNvSpPr/>
          <p:nvPr/>
        </p:nvSpPr>
        <p:spPr>
          <a:xfrm>
            <a:off x="256032" y="822960"/>
            <a:ext cx="1389888" cy="2057400"/>
          </a:xfrm>
          <a:prstGeom prst="roundRect">
            <a:avLst>
              <a:gd name="adj" fmla="val 6579"/>
            </a:avLst>
          </a:prstGeom>
          <a:solidFill>
            <a:srgbClr val="1B3D6B"/>
          </a:solidFill>
          <a:ln/>
        </p:spPr>
      </p:sp>
      <p:sp>
        <p:nvSpPr>
          <p:cNvPr id="7" name="Text 5"/>
          <p:cNvSpPr/>
          <p:nvPr/>
        </p:nvSpPr>
        <p:spPr>
          <a:xfrm>
            <a:off x="292608" y="914400"/>
            <a:ext cx="1316736" cy="475488"/>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S1-S2</a:t>
            </a:r>
            <a:endParaRPr lang="en-US" sz="1400" dirty="0"/>
          </a:p>
        </p:txBody>
      </p:sp>
      <p:sp>
        <p:nvSpPr>
          <p:cNvPr id="8" name="Text 6"/>
          <p:cNvSpPr/>
          <p:nvPr/>
        </p:nvSpPr>
        <p:spPr>
          <a:xfrm>
            <a:off x="310896" y="1417320"/>
            <a:ext cx="1280160" cy="8412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Modelado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y CSS Base</a:t>
            </a:r>
            <a:endParaRPr lang="en-US" sz="1100" dirty="0"/>
          </a:p>
        </p:txBody>
      </p:sp>
      <p:sp>
        <p:nvSpPr>
          <p:cNvPr id="9" name="Text 7"/>
          <p:cNvSpPr/>
          <p:nvPr/>
        </p:nvSpPr>
        <p:spPr>
          <a:xfrm>
            <a:off x="310896" y="2304288"/>
            <a:ext cx="128016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Sem. 1–4</a:t>
            </a:r>
            <a:endParaRPr lang="en-US" sz="1000" dirty="0"/>
          </a:p>
        </p:txBody>
      </p:sp>
      <p:sp>
        <p:nvSpPr>
          <p:cNvPr id="10" name="Shape 8"/>
          <p:cNvSpPr/>
          <p:nvPr/>
        </p:nvSpPr>
        <p:spPr>
          <a:xfrm>
            <a:off x="3410712" y="1828800"/>
            <a:ext cx="320040" cy="0"/>
          </a:xfrm>
          <a:prstGeom prst="line">
            <a:avLst/>
          </a:prstGeom>
          <a:noFill/>
          <a:ln w="12700">
            <a:solidFill>
              <a:srgbClr val="CBD5E1"/>
            </a:solidFill>
            <a:prstDash val="dash"/>
          </a:ln>
        </p:spPr>
      </p:sp>
      <p:sp>
        <p:nvSpPr>
          <p:cNvPr id="11" name="Shape 9"/>
          <p:cNvSpPr/>
          <p:nvPr/>
        </p:nvSpPr>
        <p:spPr>
          <a:xfrm>
            <a:off x="1993392" y="822960"/>
            <a:ext cx="1389888" cy="2057400"/>
          </a:xfrm>
          <a:prstGeom prst="roundRect">
            <a:avLst>
              <a:gd name="adj" fmla="val 6579"/>
            </a:avLst>
          </a:prstGeom>
          <a:solidFill>
            <a:srgbClr val="1B4D78"/>
          </a:solidFill>
          <a:ln/>
        </p:spPr>
      </p:sp>
      <p:sp>
        <p:nvSpPr>
          <p:cNvPr id="12" name="Text 10"/>
          <p:cNvSpPr/>
          <p:nvPr/>
        </p:nvSpPr>
        <p:spPr>
          <a:xfrm>
            <a:off x="2029968" y="914400"/>
            <a:ext cx="1316736" cy="475488"/>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S3</a:t>
            </a:r>
            <a:endParaRPr lang="en-US" sz="1400" dirty="0"/>
          </a:p>
        </p:txBody>
      </p:sp>
      <p:sp>
        <p:nvSpPr>
          <p:cNvPr id="13" name="Text 11"/>
          <p:cNvSpPr/>
          <p:nvPr/>
        </p:nvSpPr>
        <p:spPr>
          <a:xfrm>
            <a:off x="2048256" y="1417320"/>
            <a:ext cx="1280160" cy="8412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Catálogo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del Cliente</a:t>
            </a:r>
            <a:endParaRPr lang="en-US" sz="1100" dirty="0"/>
          </a:p>
        </p:txBody>
      </p:sp>
      <p:sp>
        <p:nvSpPr>
          <p:cNvPr id="14" name="Text 12"/>
          <p:cNvSpPr/>
          <p:nvPr/>
        </p:nvSpPr>
        <p:spPr>
          <a:xfrm>
            <a:off x="2048256" y="2304288"/>
            <a:ext cx="128016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Sem. 5–6</a:t>
            </a:r>
            <a:endParaRPr lang="en-US" sz="1000" dirty="0"/>
          </a:p>
        </p:txBody>
      </p:sp>
      <p:sp>
        <p:nvSpPr>
          <p:cNvPr id="15" name="Shape 13"/>
          <p:cNvSpPr/>
          <p:nvPr/>
        </p:nvSpPr>
        <p:spPr>
          <a:xfrm>
            <a:off x="5148072" y="1828800"/>
            <a:ext cx="320040" cy="0"/>
          </a:xfrm>
          <a:prstGeom prst="line">
            <a:avLst/>
          </a:prstGeom>
          <a:noFill/>
          <a:ln w="12700">
            <a:solidFill>
              <a:srgbClr val="CBD5E1"/>
            </a:solidFill>
            <a:prstDash val="dash"/>
          </a:ln>
        </p:spPr>
      </p:sp>
      <p:sp>
        <p:nvSpPr>
          <p:cNvPr id="16" name="Shape 14"/>
          <p:cNvSpPr/>
          <p:nvPr/>
        </p:nvSpPr>
        <p:spPr>
          <a:xfrm>
            <a:off x="3730752" y="822960"/>
            <a:ext cx="1389888" cy="2057400"/>
          </a:xfrm>
          <a:prstGeom prst="roundRect">
            <a:avLst>
              <a:gd name="adj" fmla="val 6579"/>
            </a:avLst>
          </a:prstGeom>
          <a:solidFill>
            <a:srgbClr val="0D5C6E"/>
          </a:solidFill>
          <a:ln/>
        </p:spPr>
      </p:sp>
      <p:sp>
        <p:nvSpPr>
          <p:cNvPr id="17" name="Text 15"/>
          <p:cNvSpPr/>
          <p:nvPr/>
        </p:nvSpPr>
        <p:spPr>
          <a:xfrm>
            <a:off x="3767328" y="914400"/>
            <a:ext cx="1316736" cy="475488"/>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S4</a:t>
            </a:r>
            <a:endParaRPr lang="en-US" sz="1400" dirty="0"/>
          </a:p>
        </p:txBody>
      </p:sp>
      <p:sp>
        <p:nvSpPr>
          <p:cNvPr id="18" name="Text 16"/>
          <p:cNvSpPr/>
          <p:nvPr/>
        </p:nvSpPr>
        <p:spPr>
          <a:xfrm>
            <a:off x="3785616" y="1417320"/>
            <a:ext cx="1280160" cy="8412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Carrito</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y Stock</a:t>
            </a:r>
            <a:endParaRPr lang="en-US" sz="1100" dirty="0"/>
          </a:p>
        </p:txBody>
      </p:sp>
      <p:sp>
        <p:nvSpPr>
          <p:cNvPr id="19" name="Text 17"/>
          <p:cNvSpPr/>
          <p:nvPr/>
        </p:nvSpPr>
        <p:spPr>
          <a:xfrm>
            <a:off x="3785616" y="2304288"/>
            <a:ext cx="128016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Sem. 7–9</a:t>
            </a:r>
            <a:endParaRPr lang="en-US" sz="1000" dirty="0"/>
          </a:p>
        </p:txBody>
      </p:sp>
      <p:sp>
        <p:nvSpPr>
          <p:cNvPr id="20" name="Shape 18"/>
          <p:cNvSpPr/>
          <p:nvPr/>
        </p:nvSpPr>
        <p:spPr>
          <a:xfrm>
            <a:off x="6885432" y="1828800"/>
            <a:ext cx="320040" cy="0"/>
          </a:xfrm>
          <a:prstGeom prst="line">
            <a:avLst/>
          </a:prstGeom>
          <a:noFill/>
          <a:ln w="12700">
            <a:solidFill>
              <a:srgbClr val="CBD5E1"/>
            </a:solidFill>
            <a:prstDash val="dash"/>
          </a:ln>
        </p:spPr>
      </p:sp>
      <p:sp>
        <p:nvSpPr>
          <p:cNvPr id="21" name="Shape 19"/>
          <p:cNvSpPr/>
          <p:nvPr/>
        </p:nvSpPr>
        <p:spPr>
          <a:xfrm>
            <a:off x="5468112" y="822960"/>
            <a:ext cx="1389888" cy="2057400"/>
          </a:xfrm>
          <a:prstGeom prst="roundRect">
            <a:avLst>
              <a:gd name="adj" fmla="val 6579"/>
            </a:avLst>
          </a:prstGeom>
          <a:solidFill>
            <a:srgbClr val="0A5668"/>
          </a:solidFill>
          <a:ln/>
        </p:spPr>
      </p:sp>
      <p:sp>
        <p:nvSpPr>
          <p:cNvPr id="22" name="Text 20"/>
          <p:cNvSpPr/>
          <p:nvPr/>
        </p:nvSpPr>
        <p:spPr>
          <a:xfrm>
            <a:off x="5504688" y="914400"/>
            <a:ext cx="1316736" cy="475488"/>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S5</a:t>
            </a:r>
            <a:endParaRPr lang="en-US" sz="1400" dirty="0"/>
          </a:p>
        </p:txBody>
      </p:sp>
      <p:sp>
        <p:nvSpPr>
          <p:cNvPr id="23" name="Text 21"/>
          <p:cNvSpPr/>
          <p:nvPr/>
        </p:nvSpPr>
        <p:spPr>
          <a:xfrm>
            <a:off x="5522976" y="1417320"/>
            <a:ext cx="1280160" cy="8412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Panel</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Admin</a:t>
            </a:r>
            <a:endParaRPr lang="en-US" sz="1100" dirty="0"/>
          </a:p>
        </p:txBody>
      </p:sp>
      <p:sp>
        <p:nvSpPr>
          <p:cNvPr id="24" name="Text 22"/>
          <p:cNvSpPr/>
          <p:nvPr/>
        </p:nvSpPr>
        <p:spPr>
          <a:xfrm>
            <a:off x="5522976" y="2304288"/>
            <a:ext cx="128016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Sem. 10–12</a:t>
            </a:r>
            <a:endParaRPr lang="en-US" sz="1000" dirty="0"/>
          </a:p>
        </p:txBody>
      </p:sp>
      <p:sp>
        <p:nvSpPr>
          <p:cNvPr id="25" name="Shape 23"/>
          <p:cNvSpPr/>
          <p:nvPr/>
        </p:nvSpPr>
        <p:spPr>
          <a:xfrm>
            <a:off x="7205472" y="822960"/>
            <a:ext cx="1389888" cy="2057400"/>
          </a:xfrm>
          <a:prstGeom prst="roundRect">
            <a:avLst>
              <a:gd name="adj" fmla="val 6579"/>
            </a:avLst>
          </a:prstGeom>
          <a:solidFill>
            <a:srgbClr val="0F766E"/>
          </a:solidFill>
          <a:ln/>
        </p:spPr>
      </p:sp>
      <p:sp>
        <p:nvSpPr>
          <p:cNvPr id="26" name="Text 24"/>
          <p:cNvSpPr/>
          <p:nvPr/>
        </p:nvSpPr>
        <p:spPr>
          <a:xfrm>
            <a:off x="7242048" y="914400"/>
            <a:ext cx="1316736" cy="475488"/>
          </a:xfrm>
          <a:prstGeom prst="rect">
            <a:avLst/>
          </a:prstGeom>
          <a:noFill/>
          <a:ln/>
        </p:spPr>
        <p:txBody>
          <a:bodyPr wrap="square" lIns="0" tIns="0" rIns="0" bIns="0" rtlCol="0" anchor="ctr"/>
          <a:lstStyle/>
          <a:p>
            <a:pPr algn="ctr" indent="0" marL="0">
              <a:buNone/>
            </a:pPr>
            <a:r>
              <a:rPr lang="en-US" sz="1400" b="1" dirty="0">
                <a:solidFill>
                  <a:srgbClr val="5EEAD4"/>
                </a:solidFill>
                <a:latin typeface="Calibri" pitchFamily="34" charset="0"/>
                <a:ea typeface="Calibri" pitchFamily="34" charset="-122"/>
                <a:cs typeface="Calibri" pitchFamily="34" charset="-120"/>
              </a:rPr>
              <a:t>S6</a:t>
            </a:r>
            <a:endParaRPr lang="en-US" sz="1400" dirty="0"/>
          </a:p>
        </p:txBody>
      </p:sp>
      <p:sp>
        <p:nvSpPr>
          <p:cNvPr id="27" name="Text 25"/>
          <p:cNvSpPr/>
          <p:nvPr/>
        </p:nvSpPr>
        <p:spPr>
          <a:xfrm>
            <a:off x="7260336" y="1417320"/>
            <a:ext cx="1280160" cy="841248"/>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Integración</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y Cierre</a:t>
            </a:r>
            <a:endParaRPr lang="en-US" sz="1100" dirty="0"/>
          </a:p>
        </p:txBody>
      </p:sp>
      <p:sp>
        <p:nvSpPr>
          <p:cNvPr id="28" name="Text 26"/>
          <p:cNvSpPr/>
          <p:nvPr/>
        </p:nvSpPr>
        <p:spPr>
          <a:xfrm>
            <a:off x="7260336" y="2304288"/>
            <a:ext cx="1280160" cy="365760"/>
          </a:xfrm>
          <a:prstGeom prst="rect">
            <a:avLst/>
          </a:prstGeom>
          <a:noFill/>
          <a:ln/>
        </p:spPr>
        <p:txBody>
          <a:bodyPr wrap="square" lIns="0" tIns="0" rIns="0" bIns="0" rtlCol="0" anchor="ctr"/>
          <a:lstStyle/>
          <a:p>
            <a:pPr algn="ctr" indent="0" marL="0">
              <a:buNone/>
            </a:pPr>
            <a:r>
              <a:rPr lang="en-US" sz="1000" dirty="0">
                <a:solidFill>
                  <a:srgbClr val="94A3B8"/>
                </a:solidFill>
                <a:latin typeface="Calibri" pitchFamily="34" charset="0"/>
                <a:ea typeface="Calibri" pitchFamily="34" charset="-122"/>
                <a:cs typeface="Calibri" pitchFamily="34" charset="-120"/>
              </a:rPr>
              <a:t>Sem. 13–16</a:t>
            </a:r>
            <a:endParaRPr lang="en-US" sz="1000" dirty="0"/>
          </a:p>
        </p:txBody>
      </p:sp>
      <p:sp>
        <p:nvSpPr>
          <p:cNvPr id="29" name="Text 27"/>
          <p:cNvSpPr/>
          <p:nvPr/>
        </p:nvSpPr>
        <p:spPr>
          <a:xfrm>
            <a:off x="256032" y="3017520"/>
            <a:ext cx="8631936" cy="384048"/>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Estructura de Desglose del Trabajo (EDT) — 6 Fases · 18 Paquetes de Trabajo</a:t>
            </a:r>
            <a:endParaRPr lang="en-US" sz="1200" dirty="0"/>
          </a:p>
        </p:txBody>
      </p:sp>
      <p:sp>
        <p:nvSpPr>
          <p:cNvPr id="30" name="Shape 28"/>
          <p:cNvSpPr/>
          <p:nvPr/>
        </p:nvSpPr>
        <p:spPr>
          <a:xfrm>
            <a:off x="256032" y="3493008"/>
            <a:ext cx="1371600" cy="1508760"/>
          </a:xfrm>
          <a:prstGeom prst="roundRect">
            <a:avLst>
              <a:gd name="adj" fmla="val 4667"/>
            </a:avLst>
          </a:prstGeom>
          <a:solidFill>
            <a:srgbClr val="F0FDFA"/>
          </a:solidFill>
          <a:ln w="12700">
            <a:solidFill>
              <a:srgbClr val="99F6E4"/>
            </a:solidFill>
            <a:prstDash val="solid"/>
          </a:ln>
        </p:spPr>
      </p:sp>
      <p:sp>
        <p:nvSpPr>
          <p:cNvPr id="31" name="Text 29"/>
          <p:cNvSpPr/>
          <p:nvPr/>
        </p:nvSpPr>
        <p:spPr>
          <a:xfrm>
            <a:off x="310896" y="3538728"/>
            <a:ext cx="1261872" cy="1417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1. Gestión</a:t>
            </a:r>
            <a:endParaRPr lang="en-US" sz="1100" dirty="0"/>
          </a:p>
        </p:txBody>
      </p:sp>
      <p:sp>
        <p:nvSpPr>
          <p:cNvPr id="32" name="Shape 30"/>
          <p:cNvSpPr/>
          <p:nvPr/>
        </p:nvSpPr>
        <p:spPr>
          <a:xfrm>
            <a:off x="1719072" y="3493008"/>
            <a:ext cx="1371600" cy="1508760"/>
          </a:xfrm>
          <a:prstGeom prst="roundRect">
            <a:avLst>
              <a:gd name="adj" fmla="val 4667"/>
            </a:avLst>
          </a:prstGeom>
          <a:solidFill>
            <a:srgbClr val="F0FDFA"/>
          </a:solidFill>
          <a:ln w="12700">
            <a:solidFill>
              <a:srgbClr val="99F6E4"/>
            </a:solidFill>
            <a:prstDash val="solid"/>
          </a:ln>
        </p:spPr>
      </p:sp>
      <p:sp>
        <p:nvSpPr>
          <p:cNvPr id="33" name="Text 31"/>
          <p:cNvSpPr/>
          <p:nvPr/>
        </p:nvSpPr>
        <p:spPr>
          <a:xfrm>
            <a:off x="1773936" y="3538728"/>
            <a:ext cx="1261872" cy="1417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2. Requisitos</a:t>
            </a:r>
            <a:endParaRPr lang="en-US" sz="1100" dirty="0"/>
          </a:p>
        </p:txBody>
      </p:sp>
      <p:sp>
        <p:nvSpPr>
          <p:cNvPr id="34" name="Shape 32"/>
          <p:cNvSpPr/>
          <p:nvPr/>
        </p:nvSpPr>
        <p:spPr>
          <a:xfrm>
            <a:off x="3182112" y="3493008"/>
            <a:ext cx="1371600" cy="1508760"/>
          </a:xfrm>
          <a:prstGeom prst="roundRect">
            <a:avLst>
              <a:gd name="adj" fmla="val 4667"/>
            </a:avLst>
          </a:prstGeom>
          <a:solidFill>
            <a:srgbClr val="F0FDFA"/>
          </a:solidFill>
          <a:ln w="12700">
            <a:solidFill>
              <a:srgbClr val="99F6E4"/>
            </a:solidFill>
            <a:prstDash val="solid"/>
          </a:ln>
        </p:spPr>
      </p:sp>
      <p:sp>
        <p:nvSpPr>
          <p:cNvPr id="35" name="Text 33"/>
          <p:cNvSpPr/>
          <p:nvPr/>
        </p:nvSpPr>
        <p:spPr>
          <a:xfrm>
            <a:off x="3236976" y="3538728"/>
            <a:ext cx="1261872" cy="1417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3. Diseño UI</a:t>
            </a:r>
            <a:endParaRPr lang="en-US" sz="1100" dirty="0"/>
          </a:p>
        </p:txBody>
      </p:sp>
      <p:sp>
        <p:nvSpPr>
          <p:cNvPr id="36" name="Shape 34"/>
          <p:cNvSpPr/>
          <p:nvPr/>
        </p:nvSpPr>
        <p:spPr>
          <a:xfrm>
            <a:off x="4645152" y="3493008"/>
            <a:ext cx="1371600" cy="1508760"/>
          </a:xfrm>
          <a:prstGeom prst="roundRect">
            <a:avLst>
              <a:gd name="adj" fmla="val 4667"/>
            </a:avLst>
          </a:prstGeom>
          <a:solidFill>
            <a:srgbClr val="F0FDFA"/>
          </a:solidFill>
          <a:ln w="12700">
            <a:solidFill>
              <a:srgbClr val="99F6E4"/>
            </a:solidFill>
            <a:prstDash val="solid"/>
          </a:ln>
        </p:spPr>
      </p:sp>
      <p:sp>
        <p:nvSpPr>
          <p:cNvPr id="37" name="Text 35"/>
          <p:cNvSpPr/>
          <p:nvPr/>
        </p:nvSpPr>
        <p:spPr>
          <a:xfrm>
            <a:off x="4700016" y="3538728"/>
            <a:ext cx="1261872" cy="1417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4. Código</a:t>
            </a:r>
            <a:endParaRPr lang="en-US" sz="1100" dirty="0"/>
          </a:p>
        </p:txBody>
      </p:sp>
      <p:sp>
        <p:nvSpPr>
          <p:cNvPr id="38" name="Shape 36"/>
          <p:cNvSpPr/>
          <p:nvPr/>
        </p:nvSpPr>
        <p:spPr>
          <a:xfrm>
            <a:off x="6108192" y="3493008"/>
            <a:ext cx="1371600" cy="1508760"/>
          </a:xfrm>
          <a:prstGeom prst="roundRect">
            <a:avLst>
              <a:gd name="adj" fmla="val 4667"/>
            </a:avLst>
          </a:prstGeom>
          <a:solidFill>
            <a:srgbClr val="F0FDFA"/>
          </a:solidFill>
          <a:ln w="12700">
            <a:solidFill>
              <a:srgbClr val="99F6E4"/>
            </a:solidFill>
            <a:prstDash val="solid"/>
          </a:ln>
        </p:spPr>
      </p:sp>
      <p:sp>
        <p:nvSpPr>
          <p:cNvPr id="39" name="Text 37"/>
          <p:cNvSpPr/>
          <p:nvPr/>
        </p:nvSpPr>
        <p:spPr>
          <a:xfrm>
            <a:off x="6163056" y="3538728"/>
            <a:ext cx="1261872" cy="1417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5. Pruebas</a:t>
            </a:r>
            <a:endParaRPr lang="en-US" sz="1100" dirty="0"/>
          </a:p>
        </p:txBody>
      </p:sp>
      <p:sp>
        <p:nvSpPr>
          <p:cNvPr id="40" name="Shape 38"/>
          <p:cNvSpPr/>
          <p:nvPr/>
        </p:nvSpPr>
        <p:spPr>
          <a:xfrm>
            <a:off x="7571232" y="3493008"/>
            <a:ext cx="1371600" cy="1508760"/>
          </a:xfrm>
          <a:prstGeom prst="roundRect">
            <a:avLst>
              <a:gd name="adj" fmla="val 4667"/>
            </a:avLst>
          </a:prstGeom>
          <a:solidFill>
            <a:srgbClr val="F0FDFA"/>
          </a:solidFill>
          <a:ln w="12700">
            <a:solidFill>
              <a:srgbClr val="99F6E4"/>
            </a:solidFill>
            <a:prstDash val="solid"/>
          </a:ln>
        </p:spPr>
      </p:sp>
      <p:sp>
        <p:nvSpPr>
          <p:cNvPr id="41" name="Text 39"/>
          <p:cNvSpPr/>
          <p:nvPr/>
        </p:nvSpPr>
        <p:spPr>
          <a:xfrm>
            <a:off x="7626096" y="3538728"/>
            <a:ext cx="1261872" cy="1417320"/>
          </a:xfrm>
          <a:prstGeom prst="rect">
            <a:avLst/>
          </a:prstGeom>
          <a:noFill/>
          <a:ln/>
        </p:spPr>
        <p:txBody>
          <a:bodyPr wrap="square" lIns="0" tIns="0" rIns="0" bIns="0" rtlCol="0" anchor="ctr"/>
          <a:lstStyle/>
          <a:p>
            <a:pPr algn="ctr" indent="0" marL="0">
              <a:buNone/>
            </a:pPr>
            <a:r>
              <a:rPr lang="en-US" sz="1100" b="1" dirty="0">
                <a:solidFill>
                  <a:srgbClr val="0F766E"/>
                </a:solidFill>
                <a:latin typeface="Calibri" pitchFamily="34" charset="0"/>
                <a:ea typeface="Calibri" pitchFamily="34" charset="-122"/>
                <a:cs typeface="Calibri" pitchFamily="34" charset="-120"/>
              </a:rPr>
              <a:t>6. Cierre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07 — Control del Proyecto: Gestión del Valor Ganado (EVM)</a:t>
            </a:r>
            <a:endParaRPr lang="en-US" sz="2000" dirty="0"/>
          </a:p>
        </p:txBody>
      </p:sp>
      <p:sp>
        <p:nvSpPr>
          <p:cNvPr id="5" name="Shape 3"/>
          <p:cNvSpPr/>
          <p:nvPr/>
        </p:nvSpPr>
        <p:spPr>
          <a:xfrm>
            <a:off x="274320" y="868680"/>
            <a:ext cx="4069080" cy="1737360"/>
          </a:xfrm>
          <a:prstGeom prst="roundRect">
            <a:avLst>
              <a:gd name="adj" fmla="val 5263"/>
            </a:avLst>
          </a:prstGeom>
          <a:solidFill>
            <a:srgbClr val="F0FDF4"/>
          </a:solidFill>
          <a:ln/>
          <a:effectLst>
            <a:outerShdw sx="100000" sy="100000" kx="0" ky="0" algn="bl" rotWithShape="0" blurRad="76200" dist="25400" dir="2700000">
              <a:srgbClr val="000000">
                <a:alpha val="9000"/>
              </a:srgbClr>
            </a:outerShdw>
          </a:effectLst>
        </p:spPr>
      </p:sp>
      <p:sp>
        <p:nvSpPr>
          <p:cNvPr id="6" name="Text 4"/>
          <p:cNvSpPr/>
          <p:nvPr/>
        </p:nvSpPr>
        <p:spPr>
          <a:xfrm>
            <a:off x="411480" y="1005840"/>
            <a:ext cx="3794760" cy="822960"/>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1.16 ✓</a:t>
            </a:r>
            <a:endParaRPr lang="en-US" sz="3000" dirty="0"/>
          </a:p>
        </p:txBody>
      </p:sp>
      <p:sp>
        <p:nvSpPr>
          <p:cNvPr id="7" name="Text 5"/>
          <p:cNvSpPr/>
          <p:nvPr/>
        </p:nvSpPr>
        <p:spPr>
          <a:xfrm>
            <a:off x="411480" y="1801368"/>
            <a:ext cx="3794760" cy="73152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CPI — Rendimiento del costo</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(&gt; 1.0 = por debajo del presupuesto)</a:t>
            </a:r>
            <a:endParaRPr lang="en-US" sz="1100" dirty="0"/>
          </a:p>
        </p:txBody>
      </p:sp>
      <p:sp>
        <p:nvSpPr>
          <p:cNvPr id="8" name="Shape 6"/>
          <p:cNvSpPr/>
          <p:nvPr/>
        </p:nvSpPr>
        <p:spPr>
          <a:xfrm>
            <a:off x="4754880" y="868680"/>
            <a:ext cx="4069080" cy="1737360"/>
          </a:xfrm>
          <a:prstGeom prst="roundRect">
            <a:avLst>
              <a:gd name="adj" fmla="val 5263"/>
            </a:avLst>
          </a:prstGeom>
          <a:solidFill>
            <a:srgbClr val="F0FDF4"/>
          </a:solidFill>
          <a:ln/>
          <a:effectLst>
            <a:outerShdw sx="100000" sy="100000" kx="0" ky="0" algn="bl" rotWithShape="0" blurRad="76200" dist="25400" dir="2700000">
              <a:srgbClr val="000000">
                <a:alpha val="9000"/>
              </a:srgbClr>
            </a:outerShdw>
          </a:effectLst>
        </p:spPr>
      </p:sp>
      <p:sp>
        <p:nvSpPr>
          <p:cNvPr id="9" name="Text 7"/>
          <p:cNvSpPr/>
          <p:nvPr/>
        </p:nvSpPr>
        <p:spPr>
          <a:xfrm>
            <a:off x="4892040" y="1005840"/>
            <a:ext cx="3794760" cy="822960"/>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1.07 ✓</a:t>
            </a:r>
            <a:endParaRPr lang="en-US" sz="3000" dirty="0"/>
          </a:p>
        </p:txBody>
      </p:sp>
      <p:sp>
        <p:nvSpPr>
          <p:cNvPr id="10" name="Text 8"/>
          <p:cNvSpPr/>
          <p:nvPr/>
        </p:nvSpPr>
        <p:spPr>
          <a:xfrm>
            <a:off x="4892040" y="1801368"/>
            <a:ext cx="3794760" cy="73152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SPI — Rendimiento del cronograma</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(&gt; 1.0 = adelantado en tiempo)</a:t>
            </a:r>
            <a:endParaRPr lang="en-US" sz="1100" dirty="0"/>
          </a:p>
        </p:txBody>
      </p:sp>
      <p:sp>
        <p:nvSpPr>
          <p:cNvPr id="11" name="Shape 9"/>
          <p:cNvSpPr/>
          <p:nvPr/>
        </p:nvSpPr>
        <p:spPr>
          <a:xfrm>
            <a:off x="274320" y="2834640"/>
            <a:ext cx="4069080" cy="1737360"/>
          </a:xfrm>
          <a:prstGeom prst="roundRect">
            <a:avLst>
              <a:gd name="adj" fmla="val 5263"/>
            </a:avLst>
          </a:prstGeom>
          <a:solidFill>
            <a:srgbClr val="F8FAFC"/>
          </a:solidFill>
          <a:ln/>
          <a:effectLst>
            <a:outerShdw sx="100000" sy="100000" kx="0" ky="0" algn="bl" rotWithShape="0" blurRad="76200" dist="25400" dir="2700000">
              <a:srgbClr val="000000">
                <a:alpha val="9000"/>
              </a:srgbClr>
            </a:outerShdw>
          </a:effectLst>
        </p:spPr>
      </p:sp>
      <p:sp>
        <p:nvSpPr>
          <p:cNvPr id="12" name="Text 10"/>
          <p:cNvSpPr/>
          <p:nvPr/>
        </p:nvSpPr>
        <p:spPr>
          <a:xfrm>
            <a:off x="411480" y="2971800"/>
            <a:ext cx="3794760" cy="822960"/>
          </a:xfrm>
          <a:prstGeom prst="rect">
            <a:avLst/>
          </a:prstGeom>
          <a:noFill/>
          <a:ln/>
        </p:spPr>
        <p:txBody>
          <a:bodyPr wrap="square" lIns="0" tIns="0" rIns="0" bIns="0" rtlCol="0" anchor="ctr"/>
          <a:lstStyle/>
          <a:p>
            <a:pPr algn="ctr" indent="0" marL="0">
              <a:buNone/>
            </a:pPr>
            <a:r>
              <a:rPr lang="en-US" sz="3000" b="1" dirty="0">
                <a:solidFill>
                  <a:srgbClr val="0D9488"/>
                </a:solidFill>
                <a:latin typeface="Calibri" pitchFamily="34" charset="0"/>
                <a:ea typeface="Calibri" pitchFamily="34" charset="-122"/>
                <a:cs typeface="Calibri" pitchFamily="34" charset="-120"/>
              </a:rPr>
              <a:t>$16,800</a:t>
            </a:r>
            <a:endParaRPr lang="en-US" sz="3000" dirty="0"/>
          </a:p>
        </p:txBody>
      </p:sp>
      <p:sp>
        <p:nvSpPr>
          <p:cNvPr id="13" name="Text 11"/>
          <p:cNvSpPr/>
          <p:nvPr/>
        </p:nvSpPr>
        <p:spPr>
          <a:xfrm>
            <a:off x="411480" y="3767328"/>
            <a:ext cx="3794760" cy="73152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EV — Valor Ganado al Sprint 4</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(70 % del proyecto completado)</a:t>
            </a:r>
            <a:endParaRPr lang="en-US" sz="1100" dirty="0"/>
          </a:p>
        </p:txBody>
      </p:sp>
      <p:sp>
        <p:nvSpPr>
          <p:cNvPr id="14" name="Shape 12"/>
          <p:cNvSpPr/>
          <p:nvPr/>
        </p:nvSpPr>
        <p:spPr>
          <a:xfrm>
            <a:off x="4754880" y="2834640"/>
            <a:ext cx="4069080" cy="1737360"/>
          </a:xfrm>
          <a:prstGeom prst="roundRect">
            <a:avLst>
              <a:gd name="adj" fmla="val 5263"/>
            </a:avLst>
          </a:prstGeom>
          <a:solidFill>
            <a:srgbClr val="F0FDF4"/>
          </a:solidFill>
          <a:ln/>
          <a:effectLst>
            <a:outerShdw sx="100000" sy="100000" kx="0" ky="0" algn="bl" rotWithShape="0" blurRad="76200" dist="25400" dir="2700000">
              <a:srgbClr val="000000">
                <a:alpha val="9000"/>
              </a:srgbClr>
            </a:outerShdw>
          </a:effectLst>
        </p:spPr>
      </p:sp>
      <p:sp>
        <p:nvSpPr>
          <p:cNvPr id="15" name="Text 13"/>
          <p:cNvSpPr/>
          <p:nvPr/>
        </p:nvSpPr>
        <p:spPr>
          <a:xfrm>
            <a:off x="4892040" y="2971800"/>
            <a:ext cx="3794760" cy="822960"/>
          </a:xfrm>
          <a:prstGeom prst="rect">
            <a:avLst/>
          </a:prstGeom>
          <a:noFill/>
          <a:ln/>
        </p:spPr>
        <p:txBody>
          <a:bodyPr wrap="square" lIns="0" tIns="0" rIns="0" bIns="0" rtlCol="0" anchor="ctr"/>
          <a:lstStyle/>
          <a:p>
            <a:pPr algn="ctr" indent="0" marL="0">
              <a:buNone/>
            </a:pPr>
            <a:r>
              <a:rPr lang="en-US" sz="3000" b="1" dirty="0">
                <a:solidFill>
                  <a:srgbClr val="16A34A"/>
                </a:solidFill>
                <a:latin typeface="Calibri" pitchFamily="34" charset="0"/>
                <a:ea typeface="Calibri" pitchFamily="34" charset="-122"/>
                <a:cs typeface="Calibri" pitchFamily="34" charset="-120"/>
              </a:rPr>
              <a:t>+$2,300</a:t>
            </a:r>
            <a:endParaRPr lang="en-US" sz="3000" dirty="0"/>
          </a:p>
        </p:txBody>
      </p:sp>
      <p:sp>
        <p:nvSpPr>
          <p:cNvPr id="16" name="Text 14"/>
          <p:cNvSpPr/>
          <p:nvPr/>
        </p:nvSpPr>
        <p:spPr>
          <a:xfrm>
            <a:off x="4892040" y="3767328"/>
            <a:ext cx="3794760" cy="731520"/>
          </a:xfrm>
          <a:prstGeom prst="rect">
            <a:avLst/>
          </a:prstGeom>
          <a:noFill/>
          <a:ln/>
        </p:spPr>
        <p:txBody>
          <a:bodyPr wrap="square" lIns="0" tIns="0" rIns="0" bIns="0" rtlCol="0" anchor="ctr"/>
          <a:lstStyle/>
          <a:p>
            <a:pPr algn="ctr" indent="0" marL="0">
              <a:buNone/>
            </a:pPr>
            <a:r>
              <a:rPr lang="en-US" sz="1100" dirty="0">
                <a:solidFill>
                  <a:srgbClr val="475569"/>
                </a:solidFill>
                <a:latin typeface="Calibri" pitchFamily="34" charset="0"/>
                <a:ea typeface="Calibri" pitchFamily="34" charset="-122"/>
                <a:cs typeface="Calibri" pitchFamily="34" charset="-120"/>
              </a:rPr>
              <a:t>CV — Ahorro financiero real</a:t>
            </a:r>
            <a:endParaRPr lang="en-US" sz="1100" dirty="0"/>
          </a:p>
          <a:p>
            <a:pPr algn="ctr" indent="0" marL="0">
              <a:buNone/>
            </a:pPr>
            <a:r>
              <a:rPr lang="en-US" sz="1100" dirty="0">
                <a:solidFill>
                  <a:srgbClr val="475569"/>
                </a:solidFill>
                <a:latin typeface="Calibri" pitchFamily="34" charset="0"/>
                <a:ea typeface="Calibri" pitchFamily="34" charset="-122"/>
                <a:cs typeface="Calibri" pitchFamily="34" charset="-120"/>
              </a:rPr>
              <a:t>vs. presupuesto planificado</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A4A"/>
          </a:solidFill>
          <a:ln/>
        </p:spPr>
      </p:sp>
      <p:sp>
        <p:nvSpPr>
          <p:cNvPr id="3" name="Shape 1"/>
          <p:cNvSpPr/>
          <p:nvPr/>
        </p:nvSpPr>
        <p:spPr>
          <a:xfrm>
            <a:off x="0" y="658368"/>
            <a:ext cx="9144000" cy="45720"/>
          </a:xfrm>
          <a:prstGeom prst="rect">
            <a:avLst/>
          </a:prstGeom>
          <a:solidFill>
            <a:srgbClr val="0D9488"/>
          </a:solidFill>
          <a:ln/>
        </p:spPr>
      </p:sp>
      <p:sp>
        <p:nvSpPr>
          <p:cNvPr id="4" name="Text 2"/>
          <p:cNvSpPr/>
          <p:nvPr/>
        </p:nvSpPr>
        <p:spPr>
          <a:xfrm>
            <a:off x="384048" y="54864"/>
            <a:ext cx="8375904" cy="5486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08 — Gestión de Riesgos y Aseguramiento de Calidad (SQA)</a:t>
            </a:r>
            <a:endParaRPr lang="en-US" sz="2000" dirty="0"/>
          </a:p>
        </p:txBody>
      </p:sp>
      <p:sp>
        <p:nvSpPr>
          <p:cNvPr id="5" name="Text 3"/>
          <p:cNvSpPr/>
          <p:nvPr/>
        </p:nvSpPr>
        <p:spPr>
          <a:xfrm>
            <a:off x="256032" y="777240"/>
            <a:ext cx="4251960" cy="34747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Matriz de Riesgos — 5 riesgos con Fichas Técnicas RSAR</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256032" y="1170432"/>
          <a:ext cx="4251960" cy="914400"/>
        </p:xfrm>
        <a:graphic>
          <a:graphicData uri="http://schemas.openxmlformats.org/drawingml/2006/table">
            <a:tbl>
              <a:tblPr/>
              <a:tblGrid>
                <a:gridCol w="457200"/>
                <a:gridCol w="1828800"/>
                <a:gridCol w="566928"/>
                <a:gridCol w="1216152"/>
              </a:tblGrid>
              <a:tr h="51206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Riesgo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ER</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Prioridad</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B2A4A"/>
                    </a:solidFill>
                  </a:tcPr>
                </a:tc>
              </a:tr>
              <a:tr h="512064">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R1</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Desfase académico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b="1" dirty="0">
                          <a:solidFill>
                            <a:srgbClr val="D97706"/>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c>
                  <a:txBody>
                    <a:bodyPr/>
                    <a:lstStyle/>
                    <a:p>
                      <a:pPr algn="ctr" indent="0" marL="0">
                        <a:buNone/>
                      </a:pPr>
                      <a:r>
                        <a:rPr lang="en-US" sz="1100" b="1" dirty="0">
                          <a:solidFill>
                            <a:srgbClr val="D97706"/>
                          </a:solidFill>
                          <a:latin typeface="Calibri" pitchFamily="34" charset="0"/>
                          <a:ea typeface="Calibri" pitchFamily="34" charset="-122"/>
                          <a:cs typeface="Calibri" pitchFamily="34" charset="-120"/>
                        </a:rPr>
                        <a:t>Alta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EF3C7"/>
                    </a:solidFill>
                  </a:tcPr>
                </a:tc>
              </a:tr>
              <a:tr h="512064">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R2</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Falla sincronización</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Moderada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512064">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R3</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Resistencia al cambio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3.6</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Moderada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512064">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R4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Deserción de equipo</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Moderada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r h="512064">
                <a:tc>
                  <a:txBody>
                    <a:bodyPr/>
                    <a:lstStyle/>
                    <a:p>
                      <a:pPr algn="ctr" indent="0" marL="0">
                        <a:buNone/>
                      </a:pPr>
                      <a:r>
                        <a:rPr lang="en-US" sz="1100" b="1" dirty="0">
                          <a:solidFill>
                            <a:srgbClr val="0F172A"/>
                          </a:solidFill>
                          <a:latin typeface="Calibri" pitchFamily="34" charset="0"/>
                          <a:ea typeface="Calibri" pitchFamily="34" charset="-122"/>
                          <a:cs typeface="Calibri" pitchFamily="34" charset="-120"/>
                        </a:rPr>
                        <a:t>R5</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100" dirty="0">
                          <a:solidFill>
                            <a:srgbClr val="0F172A"/>
                          </a:solidFill>
                          <a:latin typeface="Calibri" pitchFamily="34" charset="0"/>
                          <a:ea typeface="Calibri" pitchFamily="34" charset="-122"/>
                          <a:cs typeface="Calibri" pitchFamily="34" charset="-120"/>
                        </a:rPr>
                        <a:t>Pérdida de datos</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FAFC"/>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c>
                  <a:txBody>
                    <a:bodyPr/>
                    <a:lstStyle/>
                    <a:p>
                      <a:pPr algn="ctr" indent="0" marL="0">
                        <a:buNone/>
                      </a:pPr>
                      <a:r>
                        <a:rPr lang="en-US" sz="1100" b="1" dirty="0">
                          <a:solidFill>
                            <a:srgbClr val="1D4ED8"/>
                          </a:solidFill>
                          <a:latin typeface="Calibri" pitchFamily="34" charset="0"/>
                          <a:ea typeface="Calibri" pitchFamily="34" charset="-122"/>
                          <a:cs typeface="Calibri" pitchFamily="34" charset="-120"/>
                        </a:rPr>
                        <a:t>Moderada</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DBEAFE"/>
                    </a:solidFill>
                  </a:tcPr>
                </a:tc>
              </a:tr>
            </a:tbl>
          </a:graphicData>
        </a:graphic>
      </p:graphicFrame>
      <p:sp>
        <p:nvSpPr>
          <p:cNvPr id="7" name="Text 4"/>
          <p:cNvSpPr/>
          <p:nvPr/>
        </p:nvSpPr>
        <p:spPr>
          <a:xfrm>
            <a:off x="4800600" y="777240"/>
            <a:ext cx="4069080" cy="347472"/>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Plan SQA — ISO/IEC 25010 · 12 Casos de Prueba</a:t>
            </a:r>
            <a:endParaRPr lang="en-US" sz="1100" dirty="0"/>
          </a:p>
        </p:txBody>
      </p:sp>
      <p:sp>
        <p:nvSpPr>
          <p:cNvPr id="8" name="Shape 5"/>
          <p:cNvSpPr/>
          <p:nvPr/>
        </p:nvSpPr>
        <p:spPr>
          <a:xfrm>
            <a:off x="4800600" y="1170432"/>
            <a:ext cx="4069080" cy="539496"/>
          </a:xfrm>
          <a:prstGeom prst="roundRect">
            <a:avLst>
              <a:gd name="adj" fmla="val 11864"/>
            </a:avLst>
          </a:prstGeom>
          <a:solidFill>
            <a:srgbClr val="F0FDF4"/>
          </a:solidFill>
          <a:ln w="12700">
            <a:solidFill>
              <a:srgbClr val="BBF7D0"/>
            </a:solidFill>
            <a:prstDash val="solid"/>
          </a:ln>
        </p:spPr>
      </p:sp>
      <p:sp>
        <p:nvSpPr>
          <p:cNvPr id="9" name="Text 6"/>
          <p:cNvSpPr/>
          <p:nvPr/>
        </p:nvSpPr>
        <p:spPr>
          <a:xfrm>
            <a:off x="4892040" y="1216152"/>
            <a:ext cx="347472" cy="448056"/>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5230368" y="1243584"/>
            <a:ext cx="3566160" cy="393192"/>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12 / 12 RF cubiertos con casos de prueba</a:t>
            </a:r>
            <a:endParaRPr lang="en-US" sz="1100" dirty="0"/>
          </a:p>
        </p:txBody>
      </p:sp>
      <p:sp>
        <p:nvSpPr>
          <p:cNvPr id="11" name="Shape 8"/>
          <p:cNvSpPr/>
          <p:nvPr/>
        </p:nvSpPr>
        <p:spPr>
          <a:xfrm>
            <a:off x="4800600" y="1801368"/>
            <a:ext cx="4069080" cy="539496"/>
          </a:xfrm>
          <a:prstGeom prst="roundRect">
            <a:avLst>
              <a:gd name="adj" fmla="val 11864"/>
            </a:avLst>
          </a:prstGeom>
          <a:solidFill>
            <a:srgbClr val="F0FDF4"/>
          </a:solidFill>
          <a:ln w="12700">
            <a:solidFill>
              <a:srgbClr val="BBF7D0"/>
            </a:solidFill>
            <a:prstDash val="solid"/>
          </a:ln>
        </p:spPr>
      </p:sp>
      <p:sp>
        <p:nvSpPr>
          <p:cNvPr id="12" name="Text 9"/>
          <p:cNvSpPr/>
          <p:nvPr/>
        </p:nvSpPr>
        <p:spPr>
          <a:xfrm>
            <a:off x="4892040" y="1847088"/>
            <a:ext cx="347472" cy="448056"/>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5230368" y="1874520"/>
            <a:ext cx="3566160" cy="393192"/>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Renderizado inicial &lt; 200 ms  ✓</a:t>
            </a:r>
            <a:endParaRPr lang="en-US" sz="1100" dirty="0"/>
          </a:p>
        </p:txBody>
      </p:sp>
      <p:sp>
        <p:nvSpPr>
          <p:cNvPr id="14" name="Shape 11"/>
          <p:cNvSpPr/>
          <p:nvPr/>
        </p:nvSpPr>
        <p:spPr>
          <a:xfrm>
            <a:off x="4800600" y="2432304"/>
            <a:ext cx="4069080" cy="539496"/>
          </a:xfrm>
          <a:prstGeom prst="roundRect">
            <a:avLst>
              <a:gd name="adj" fmla="val 11864"/>
            </a:avLst>
          </a:prstGeom>
          <a:solidFill>
            <a:srgbClr val="F0FDF4"/>
          </a:solidFill>
          <a:ln w="12700">
            <a:solidFill>
              <a:srgbClr val="BBF7D0"/>
            </a:solidFill>
            <a:prstDash val="solid"/>
          </a:ln>
        </p:spPr>
      </p:sp>
      <p:sp>
        <p:nvSpPr>
          <p:cNvPr id="15" name="Text 12"/>
          <p:cNvSpPr/>
          <p:nvPr/>
        </p:nvSpPr>
        <p:spPr>
          <a:xfrm>
            <a:off x="4892040" y="2478024"/>
            <a:ext cx="347472" cy="448056"/>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5230368" y="2505456"/>
            <a:ext cx="3566160" cy="393192"/>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Sincronización inter-ventana &lt; 500 ms  ✓</a:t>
            </a:r>
            <a:endParaRPr lang="en-US" sz="1100" dirty="0"/>
          </a:p>
        </p:txBody>
      </p:sp>
      <p:sp>
        <p:nvSpPr>
          <p:cNvPr id="17" name="Shape 14"/>
          <p:cNvSpPr/>
          <p:nvPr/>
        </p:nvSpPr>
        <p:spPr>
          <a:xfrm>
            <a:off x="4800600" y="3063240"/>
            <a:ext cx="4069080" cy="539496"/>
          </a:xfrm>
          <a:prstGeom prst="roundRect">
            <a:avLst>
              <a:gd name="adj" fmla="val 11864"/>
            </a:avLst>
          </a:prstGeom>
          <a:solidFill>
            <a:srgbClr val="F0FDF4"/>
          </a:solidFill>
          <a:ln w="12700">
            <a:solidFill>
              <a:srgbClr val="BBF7D0"/>
            </a:solidFill>
            <a:prstDash val="solid"/>
          </a:ln>
        </p:spPr>
      </p:sp>
      <p:sp>
        <p:nvSpPr>
          <p:cNvPr id="18" name="Text 15"/>
          <p:cNvSpPr/>
          <p:nvPr/>
        </p:nvSpPr>
        <p:spPr>
          <a:xfrm>
            <a:off x="4892040" y="3108960"/>
            <a:ext cx="347472" cy="448056"/>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5230368" y="3136392"/>
            <a:ext cx="3566160" cy="393192"/>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Compatible: Chrome · Firefox · Edge</a:t>
            </a:r>
            <a:endParaRPr lang="en-US" sz="1100" dirty="0"/>
          </a:p>
        </p:txBody>
      </p:sp>
      <p:sp>
        <p:nvSpPr>
          <p:cNvPr id="20" name="Shape 17"/>
          <p:cNvSpPr/>
          <p:nvPr/>
        </p:nvSpPr>
        <p:spPr>
          <a:xfrm>
            <a:off x="4800600" y="3694176"/>
            <a:ext cx="4069080" cy="539496"/>
          </a:xfrm>
          <a:prstGeom prst="roundRect">
            <a:avLst>
              <a:gd name="adj" fmla="val 11864"/>
            </a:avLst>
          </a:prstGeom>
          <a:solidFill>
            <a:srgbClr val="F0FDF4"/>
          </a:solidFill>
          <a:ln w="12700">
            <a:solidFill>
              <a:srgbClr val="BBF7D0"/>
            </a:solidFill>
            <a:prstDash val="solid"/>
          </a:ln>
        </p:spPr>
      </p:sp>
      <p:sp>
        <p:nvSpPr>
          <p:cNvPr id="21" name="Text 18"/>
          <p:cNvSpPr/>
          <p:nvPr/>
        </p:nvSpPr>
        <p:spPr>
          <a:xfrm>
            <a:off x="4892040" y="3739896"/>
            <a:ext cx="347472" cy="448056"/>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22" name="Text 19"/>
          <p:cNvSpPr/>
          <p:nvPr/>
        </p:nvSpPr>
        <p:spPr>
          <a:xfrm>
            <a:off x="5230368" y="3767328"/>
            <a:ext cx="3566160" cy="393192"/>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Cobertura de RNF al 100 %</a:t>
            </a:r>
            <a:endParaRPr lang="en-US" sz="1100" dirty="0"/>
          </a:p>
        </p:txBody>
      </p:sp>
      <p:sp>
        <p:nvSpPr>
          <p:cNvPr id="23" name="Shape 20"/>
          <p:cNvSpPr/>
          <p:nvPr/>
        </p:nvSpPr>
        <p:spPr>
          <a:xfrm>
            <a:off x="4800600" y="4325112"/>
            <a:ext cx="4069080" cy="539496"/>
          </a:xfrm>
          <a:prstGeom prst="roundRect">
            <a:avLst>
              <a:gd name="adj" fmla="val 11864"/>
            </a:avLst>
          </a:prstGeom>
          <a:solidFill>
            <a:srgbClr val="F0FDF4"/>
          </a:solidFill>
          <a:ln w="12700">
            <a:solidFill>
              <a:srgbClr val="BBF7D0"/>
            </a:solidFill>
            <a:prstDash val="solid"/>
          </a:ln>
        </p:spPr>
      </p:sp>
      <p:sp>
        <p:nvSpPr>
          <p:cNvPr id="24" name="Text 21"/>
          <p:cNvSpPr/>
          <p:nvPr/>
        </p:nvSpPr>
        <p:spPr>
          <a:xfrm>
            <a:off x="4892040" y="4370832"/>
            <a:ext cx="347472" cy="448056"/>
          </a:xfrm>
          <a:prstGeom prst="rect">
            <a:avLst/>
          </a:prstGeom>
          <a:noFill/>
          <a:ln/>
        </p:spPr>
        <p:txBody>
          <a:bodyPr wrap="square" lIns="0" tIns="0" rIns="0" bIns="0" rtlCol="0" anchor="ctr"/>
          <a:lstStyle/>
          <a:p>
            <a:pPr algn="ctr" indent="0" marL="0">
              <a:buNone/>
            </a:pPr>
            <a:r>
              <a:rPr lang="en-US" sz="1400" b="1" dirty="0">
                <a:solidFill>
                  <a:srgbClr val="16A34A"/>
                </a:solidFill>
                <a:latin typeface="Calibri" pitchFamily="34" charset="0"/>
                <a:ea typeface="Calibri" pitchFamily="34" charset="-122"/>
                <a:cs typeface="Calibri" pitchFamily="34" charset="-120"/>
              </a:rPr>
              <a:t>✓</a:t>
            </a:r>
            <a:endParaRPr lang="en-US" sz="1400" dirty="0"/>
          </a:p>
        </p:txBody>
      </p:sp>
      <p:sp>
        <p:nvSpPr>
          <p:cNvPr id="25" name="Text 22"/>
          <p:cNvSpPr/>
          <p:nvPr/>
        </p:nvSpPr>
        <p:spPr>
          <a:xfrm>
            <a:off x="5230368" y="4398264"/>
            <a:ext cx="3566160" cy="393192"/>
          </a:xfrm>
          <a:prstGeom prst="rect">
            <a:avLst/>
          </a:prstGeom>
          <a:noFill/>
          <a:ln/>
        </p:spPr>
        <p:txBody>
          <a:bodyPr wrap="square" lIns="0" tIns="0" rIns="0" bIns="0" rtlCol="0" anchor="ctr"/>
          <a:lstStyle/>
          <a:p>
            <a:pPr indent="0" marL="0">
              <a:buNone/>
            </a:pPr>
            <a:r>
              <a:rPr lang="en-US" sz="1100" dirty="0">
                <a:solidFill>
                  <a:srgbClr val="166534"/>
                </a:solidFill>
                <a:latin typeface="Calibri" pitchFamily="34" charset="0"/>
                <a:ea typeface="Calibri" pitchFamily="34" charset="-122"/>
                <a:cs typeface="Calibri" pitchFamily="34" charset="-120"/>
              </a:rPr>
              <a:t>0 defectos críticos al cierre del proyecto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9144000" cy="91440"/>
          </a:xfrm>
          <a:prstGeom prst="rect">
            <a:avLst/>
          </a:prstGeom>
          <a:solidFill>
            <a:srgbClr val="0D9488"/>
          </a:solidFill>
          <a:ln/>
        </p:spPr>
      </p:sp>
      <p:sp>
        <p:nvSpPr>
          <p:cNvPr id="3" name="Text 1"/>
          <p:cNvSpPr/>
          <p:nvPr/>
        </p:nvSpPr>
        <p:spPr>
          <a:xfrm>
            <a:off x="475488" y="201168"/>
            <a:ext cx="7315200" cy="65836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Conclusiones</a:t>
            </a:r>
            <a:endParaRPr lang="en-US" sz="3000" dirty="0"/>
          </a:p>
        </p:txBody>
      </p:sp>
      <p:sp>
        <p:nvSpPr>
          <p:cNvPr id="4" name="Shape 2"/>
          <p:cNvSpPr/>
          <p:nvPr/>
        </p:nvSpPr>
        <p:spPr>
          <a:xfrm>
            <a:off x="347472" y="987552"/>
            <a:ext cx="8449056" cy="1133856"/>
          </a:xfrm>
          <a:prstGeom prst="roundRect">
            <a:avLst>
              <a:gd name="adj" fmla="val 8065"/>
            </a:avLst>
          </a:prstGeom>
          <a:solidFill>
            <a:srgbClr val="1E3A5F"/>
          </a:solidFill>
          <a:ln/>
        </p:spPr>
      </p:sp>
      <p:sp>
        <p:nvSpPr>
          <p:cNvPr id="5" name="Text 3"/>
          <p:cNvSpPr/>
          <p:nvPr/>
        </p:nvSpPr>
        <p:spPr>
          <a:xfrm>
            <a:off x="457200" y="1069848"/>
            <a:ext cx="658368" cy="969264"/>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6" name="Text 4"/>
          <p:cNvSpPr/>
          <p:nvPr/>
        </p:nvSpPr>
        <p:spPr>
          <a:xfrm>
            <a:off x="1188720" y="1078992"/>
            <a:ext cx="7406640" cy="402336"/>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Arquitectura exitosa</a:t>
            </a:r>
            <a:endParaRPr lang="en-US" sz="1300" dirty="0"/>
          </a:p>
        </p:txBody>
      </p:sp>
      <p:sp>
        <p:nvSpPr>
          <p:cNvPr id="7" name="Text 5"/>
          <p:cNvSpPr/>
          <p:nvPr/>
        </p:nvSpPr>
        <p:spPr>
          <a:xfrm>
            <a:off x="1188720" y="1481328"/>
            <a:ext cx="7406640" cy="56692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Vanilla Architecture (HTML5 + CSS3 + JS ES6+) demostró que sin frameworks se construye un sistema reactivo de alto rendimiento a costo de infraestructura $0/mes.</a:t>
            </a:r>
            <a:endParaRPr lang="en-US" sz="1150" dirty="0"/>
          </a:p>
        </p:txBody>
      </p:sp>
      <p:sp>
        <p:nvSpPr>
          <p:cNvPr id="8" name="Shape 6"/>
          <p:cNvSpPr/>
          <p:nvPr/>
        </p:nvSpPr>
        <p:spPr>
          <a:xfrm>
            <a:off x="347472" y="2267712"/>
            <a:ext cx="8449056" cy="1133856"/>
          </a:xfrm>
          <a:prstGeom prst="roundRect">
            <a:avLst>
              <a:gd name="adj" fmla="val 8065"/>
            </a:avLst>
          </a:prstGeom>
          <a:solidFill>
            <a:srgbClr val="1E3A5F"/>
          </a:solidFill>
          <a:ln/>
        </p:spPr>
      </p:sp>
      <p:sp>
        <p:nvSpPr>
          <p:cNvPr id="9" name="Text 7"/>
          <p:cNvSpPr/>
          <p:nvPr/>
        </p:nvSpPr>
        <p:spPr>
          <a:xfrm>
            <a:off x="457200" y="2350008"/>
            <a:ext cx="658368" cy="969264"/>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0" name="Text 8"/>
          <p:cNvSpPr/>
          <p:nvPr/>
        </p:nvSpPr>
        <p:spPr>
          <a:xfrm>
            <a:off x="1188720" y="2359152"/>
            <a:ext cx="7406640" cy="402336"/>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Gestión eficiente del proyecto</a:t>
            </a:r>
            <a:endParaRPr lang="en-US" sz="1300" dirty="0"/>
          </a:p>
        </p:txBody>
      </p:sp>
      <p:sp>
        <p:nvSpPr>
          <p:cNvPr id="11" name="Text 9"/>
          <p:cNvSpPr/>
          <p:nvPr/>
        </p:nvSpPr>
        <p:spPr>
          <a:xfrm>
            <a:off x="1188720" y="2761488"/>
            <a:ext cx="7406640" cy="56692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Scrum + EVM cerraron con CPI 1.16 y SPI 1.07 — adelantados y bajo presupuesto. Ahorro real de $2,300 MXN sobre el plan de $30,000.</a:t>
            </a:r>
            <a:endParaRPr lang="en-US" sz="1150" dirty="0"/>
          </a:p>
        </p:txBody>
      </p:sp>
      <p:sp>
        <p:nvSpPr>
          <p:cNvPr id="12" name="Shape 10"/>
          <p:cNvSpPr/>
          <p:nvPr/>
        </p:nvSpPr>
        <p:spPr>
          <a:xfrm>
            <a:off x="347472" y="3547872"/>
            <a:ext cx="8449056" cy="1133856"/>
          </a:xfrm>
          <a:prstGeom prst="roundRect">
            <a:avLst>
              <a:gd name="adj" fmla="val 8065"/>
            </a:avLst>
          </a:prstGeom>
          <a:solidFill>
            <a:srgbClr val="1E3A5F"/>
          </a:solidFill>
          <a:ln/>
        </p:spPr>
      </p:sp>
      <p:sp>
        <p:nvSpPr>
          <p:cNvPr id="13" name="Text 11"/>
          <p:cNvSpPr/>
          <p:nvPr/>
        </p:nvSpPr>
        <p:spPr>
          <a:xfrm>
            <a:off x="457200" y="3630168"/>
            <a:ext cx="658368" cy="969264"/>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4" name="Text 12"/>
          <p:cNvSpPr/>
          <p:nvPr/>
        </p:nvSpPr>
        <p:spPr>
          <a:xfrm>
            <a:off x="1188720" y="3639312"/>
            <a:ext cx="7406640" cy="402336"/>
          </a:xfrm>
          <a:prstGeom prst="rect">
            <a:avLst/>
          </a:prstGeom>
          <a:noFill/>
          <a:ln/>
        </p:spPr>
        <p:txBody>
          <a:bodyPr wrap="square" lIns="0" tIns="0" rIns="0" bIns="0" rtlCol="0" anchor="ctr"/>
          <a:lstStyle/>
          <a:p>
            <a:pPr indent="0" marL="0">
              <a:buNone/>
            </a:pPr>
            <a:r>
              <a:rPr lang="en-US" sz="1300" b="1" dirty="0">
                <a:solidFill>
                  <a:srgbClr val="5EEAD4"/>
                </a:solidFill>
                <a:latin typeface="Calibri" pitchFamily="34" charset="0"/>
                <a:ea typeface="Calibri" pitchFamily="34" charset="-122"/>
                <a:cs typeface="Calibri" pitchFamily="34" charset="-120"/>
              </a:rPr>
              <a:t>Objetivos cumplidos al 100 %</a:t>
            </a:r>
            <a:endParaRPr lang="en-US" sz="1300" dirty="0"/>
          </a:p>
        </p:txBody>
      </p:sp>
      <p:sp>
        <p:nvSpPr>
          <p:cNvPr id="15" name="Text 13"/>
          <p:cNvSpPr/>
          <p:nvPr/>
        </p:nvSpPr>
        <p:spPr>
          <a:xfrm>
            <a:off x="1188720" y="4041648"/>
            <a:ext cx="7406640" cy="566928"/>
          </a:xfrm>
          <a:prstGeom prst="rect">
            <a:avLst/>
          </a:prstGeom>
          <a:noFill/>
          <a:ln/>
        </p:spPr>
        <p:txBody>
          <a:bodyPr wrap="square" lIns="0" tIns="0" rIns="0" bIns="0" rtlCol="0" anchor="ctr"/>
          <a:lstStyle/>
          <a:p>
            <a:pPr indent="0" marL="0">
              <a:buNone/>
            </a:pPr>
            <a:r>
              <a:rPr lang="en-US" sz="1150" dirty="0">
                <a:solidFill>
                  <a:srgbClr val="CBD5E1"/>
                </a:solidFill>
                <a:latin typeface="Calibri" pitchFamily="34" charset="0"/>
                <a:ea typeface="Calibri" pitchFamily="34" charset="-122"/>
                <a:cs typeface="Calibri" pitchFamily="34" charset="-120"/>
              </a:rPr>
              <a:t>Los 12 RF, los 5 RNF y el MVP fueron entregados completamente. La PYME puede digitalizar su operación con una inversión recuperable en 20 meses.</a:t>
            </a:r>
            <a:endParaRPr lang="en-US" sz="1150" dirty="0"/>
          </a:p>
        </p:txBody>
      </p:sp>
      <p:sp>
        <p:nvSpPr>
          <p:cNvPr id="16" name="Text 14"/>
          <p:cNvSpPr/>
          <p:nvPr/>
        </p:nvSpPr>
        <p:spPr>
          <a:xfrm>
            <a:off x="347472" y="4636008"/>
            <a:ext cx="3200400" cy="420624"/>
          </a:xfrm>
          <a:prstGeom prst="rect">
            <a:avLst/>
          </a:prstGeom>
          <a:noFill/>
          <a:ln/>
        </p:spPr>
        <p:txBody>
          <a:bodyPr wrap="square" lIns="0" tIns="0" rIns="0" bIns="0" rtlCol="0" anchor="ctr"/>
          <a:lstStyle/>
          <a:p>
            <a:pPr indent="0" marL="0">
              <a:buNone/>
            </a:pPr>
            <a:r>
              <a:rPr lang="en-US" sz="2000" b="1" dirty="0">
                <a:solidFill>
                  <a:srgbClr val="F59E0B"/>
                </a:solidFill>
                <a:latin typeface="Calibri" pitchFamily="34" charset="0"/>
                <a:ea typeface="Calibri" pitchFamily="34" charset="-122"/>
                <a:cs typeface="Calibri" pitchFamily="34" charset="-120"/>
              </a:rPr>
              <a:t>¿Preguntas?</a:t>
            </a:r>
            <a:endParaRPr lang="en-US" sz="2000" dirty="0"/>
          </a:p>
        </p:txBody>
      </p:sp>
      <p:sp>
        <p:nvSpPr>
          <p:cNvPr id="17" name="Text 15"/>
          <p:cNvSpPr/>
          <p:nvPr/>
        </p:nvSpPr>
        <p:spPr>
          <a:xfrm>
            <a:off x="4114800" y="4663440"/>
            <a:ext cx="4663440" cy="36576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Ortiz · Rovelo · Aguilera   ·   8° Semestre   ·   UAA   ·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CroquetaPet — Presentación Ejecutiva</dc:title>
  <dc:subject>PptxGenJS Presentation</dc:subject>
  <dc:creator>PptxGenJS</dc:creator>
  <cp:lastModifiedBy>PptxGenJS</cp:lastModifiedBy>
  <cp:revision>1</cp:revision>
  <dcterms:created xsi:type="dcterms:W3CDTF">2026-06-09T13:45:17Z</dcterms:created>
  <dcterms:modified xsi:type="dcterms:W3CDTF">2026-06-09T13:45:17Z</dcterms:modified>
</cp:coreProperties>
</file>